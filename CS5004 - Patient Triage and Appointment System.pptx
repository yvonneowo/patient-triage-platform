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embeddedFontLst>
    <p:embeddedFont>
      <p:font typeface="Comic Sans MS" panose="030F0902030302020204" pitchFamily="66" charset="0"/>
      <p:regular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DM Sans" pitchFamily="2" charset="77"/>
      <p:regular r:id="rId20"/>
      <p:bold r:id="rId21"/>
      <p:italic r:id="rId22"/>
      <p:boldItalic r:id="rId23"/>
    </p:embeddedFont>
    <p:embeddedFont>
      <p:font typeface="DM Sans Medium" pitchFamily="2" charset="77"/>
      <p:regular r:id="rId24"/>
      <p:bold r:id="rId25"/>
      <p:italic r:id="rId26"/>
      <p:boldItalic r:id="rId27"/>
    </p:embeddedFont>
    <p:embeddedFont>
      <p:font typeface="Play" pitchFamily="2" charset="0"/>
      <p:regular r:id="rId28"/>
      <p:bold r:id="rId29"/>
    </p:embeddedFont>
    <p:embeddedFont>
      <p:font typeface="VT323" pitchFamily="49" charset="77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84">
          <p15:clr>
            <a:srgbClr val="A4A3A4"/>
          </p15:clr>
        </p15:guide>
        <p15:guide id="2" pos="388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F350F1-D91B-4188-B3F4-7A21AF22964B}">
  <a:tblStyle styleId="{3BF350F1-D91B-4188-B3F4-7A21AF2296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/>
    <p:restoredTop sz="94694"/>
  </p:normalViewPr>
  <p:slideViewPr>
    <p:cSldViewPr snapToGrid="0">
      <p:cViewPr varScale="1">
        <p:scale>
          <a:sx n="117" d="100"/>
          <a:sy n="117" d="100"/>
        </p:scale>
        <p:origin x="216" y="168"/>
      </p:cViewPr>
      <p:guideLst>
        <p:guide orient="horz" pos="2184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1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/>
          </a:p>
        </p:txBody>
      </p:sp>
      <p:sp>
        <p:nvSpPr>
          <p:cNvPr id="184" name="Google Shape;18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/>
          </a:p>
        </p:txBody>
      </p:sp>
      <p:sp>
        <p:nvSpPr>
          <p:cNvPr id="196" name="Google Shape;19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endParaRPr sz="1800"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/>
          </a:p>
        </p:txBody>
      </p:sp>
      <p:sp>
        <p:nvSpPr>
          <p:cNvPr id="264" name="Google Shape;26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fcc51d37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afcc51d370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g3afcc51d370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626980a42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a626980a42_1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g3a626980a42_1_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a626980a42_2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a626980a42_2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3a626980a42_2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23" name="Google Shape;3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626980a42_2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30" name="Google Shape;330;g3a626980a42_2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sz="2667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 sz="1333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13"/>
              </a:spcBef>
              <a:spcAft>
                <a:spcPts val="0"/>
              </a:spcAft>
              <a:buClr>
                <a:srgbClr val="888888"/>
              </a:buClr>
              <a:buSzPts val="1067"/>
              <a:buNone/>
              <a:defRPr sz="1067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2692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7154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Char char="•"/>
              <a:defRPr sz="1867"/>
            </a:lvl1pPr>
            <a:lvl2pPr marL="914400" lvl="1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marL="1371600" lvl="2" indent="-313245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3098800" y="1066800"/>
            <a:ext cx="2692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7154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Char char="•"/>
              <a:defRPr sz="1867"/>
            </a:lvl1pPr>
            <a:lvl2pPr marL="914400" lvl="1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marL="1371600" lvl="2" indent="-313245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33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1pPr>
            <a:lvl2pPr marL="914400" lvl="1" indent="-228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 b="1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3pPr>
            <a:lvl4pPr marL="1828800" lvl="3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4pPr>
            <a:lvl5pPr marL="2286000" lvl="4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5pPr>
            <a:lvl6pPr marL="2743200" lvl="5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6pPr>
            <a:lvl7pPr marL="3200400" lvl="6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7pPr>
            <a:lvl8pPr marL="3657600" lvl="7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8pPr>
            <a:lvl9pPr marL="4114800" lvl="8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304800" y="1449917"/>
            <a:ext cx="2693459" cy="2634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3245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–"/>
              <a:defRPr sz="1333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635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–"/>
              <a:defRPr sz="1067"/>
            </a:lvl4pPr>
            <a:lvl5pPr marL="2286000" lvl="4" indent="-29635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»"/>
              <a:defRPr sz="1067"/>
            </a:lvl5pPr>
            <a:lvl6pPr marL="2743200" lvl="5" indent="-29635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6pPr>
            <a:lvl7pPr marL="3200400" lvl="6" indent="-29635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7pPr>
            <a:lvl8pPr marL="3657600" lvl="7" indent="-29635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8pPr>
            <a:lvl9pPr marL="4114800" lvl="8" indent="-29635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3096684" y="1023409"/>
            <a:ext cx="2694517" cy="426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1pPr>
            <a:lvl2pPr marL="914400" lvl="1" indent="-228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 b="1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3pPr>
            <a:lvl4pPr marL="1828800" lvl="3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4pPr>
            <a:lvl5pPr marL="2286000" lvl="4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5pPr>
            <a:lvl6pPr marL="2743200" lvl="5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6pPr>
            <a:lvl7pPr marL="3200400" lvl="6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7pPr>
            <a:lvl8pPr marL="3657600" lvl="7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8pPr>
            <a:lvl9pPr marL="4114800" lvl="8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3096684" y="1449917"/>
            <a:ext cx="2694517" cy="2634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3245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–"/>
              <a:defRPr sz="1333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635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–"/>
              <a:defRPr sz="1067"/>
            </a:lvl4pPr>
            <a:lvl5pPr marL="2286000" lvl="4" indent="-29635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»"/>
              <a:defRPr sz="1067"/>
            </a:lvl5pPr>
            <a:lvl6pPr marL="2743200" lvl="5" indent="-29635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6pPr>
            <a:lvl7pPr marL="3200400" lvl="6" indent="-29635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7pPr>
            <a:lvl8pPr marL="3657600" lvl="7" indent="-29635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8pPr>
            <a:lvl9pPr marL="4114800" lvl="8" indent="-29635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Calibri"/>
              <a:buNone/>
              <a:defRPr sz="1333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2383367" y="182034"/>
            <a:ext cx="3407833" cy="390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1pPr>
            <a:lvl2pPr marL="914400" lvl="1" indent="-347154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Char char="–"/>
              <a:defRPr sz="1867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3245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–"/>
              <a:defRPr sz="1333"/>
            </a:lvl4pPr>
            <a:lvl5pPr marL="2286000" lvl="4" indent="-313245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»"/>
              <a:defRPr sz="1333"/>
            </a:lvl5pPr>
            <a:lvl6pPr marL="2743200" lvl="5" indent="-313245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6pPr>
            <a:lvl7pPr marL="3200400" lvl="6" indent="-313245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7pPr>
            <a:lvl8pPr marL="3657600" lvl="7" indent="-313245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8pPr>
            <a:lvl9pPr marL="4114800" lvl="8" indent="-313245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304800" y="956734"/>
            <a:ext cx="2005542" cy="312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1pPr>
            <a:lvl2pPr marL="914400" lvl="1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marL="1371600" lvl="2" indent="-228600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667"/>
              <a:buNone/>
              <a:defRPr sz="667"/>
            </a:lvl3pPr>
            <a:lvl4pPr marL="1828800" lvl="3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marL="2286000" lvl="4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marL="2743200" lvl="5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marL="3200400" lvl="6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marL="3657600" lvl="7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marL="4114800" lvl="8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Calibri"/>
              <a:buNone/>
              <a:defRPr sz="1333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194859" y="408517"/>
            <a:ext cx="36576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194859" y="3578225"/>
            <a:ext cx="3657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1pPr>
            <a:lvl2pPr marL="914400" lvl="1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marL="1371600" lvl="2" indent="-228600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667"/>
              <a:buNone/>
              <a:defRPr sz="667"/>
            </a:lvl3pPr>
            <a:lvl4pPr marL="1828800" lvl="3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marL="2286000" lvl="4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marL="2743200" lvl="5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marL="3200400" lvl="6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marL="3657600" lvl="7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marL="4114800" lvl="8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1539346" y="-167746"/>
            <a:ext cx="3017309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3154892" y="1447800"/>
            <a:ext cx="3901017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360892" y="127000"/>
            <a:ext cx="3901017" cy="40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33"/>
              <a:buFont typeface="Calibri"/>
              <a:buNone/>
              <a:defRPr sz="29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4045" algn="l" rtl="0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7154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–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–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»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wagger.io/tools/swagger-ui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iki.postgresql.org/wiki/Developer_FAQ#How_do_I_get_involved_in_PostgreSQL_development.3F" TargetMode="External"/><Relationship Id="rId4" Type="http://schemas.openxmlformats.org/officeDocument/2006/relationships/hyperlink" Target="https://docs.docker.com/guides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D59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25"/>
          <p:cNvGrpSpPr/>
          <p:nvPr/>
        </p:nvGrpSpPr>
        <p:grpSpPr>
          <a:xfrm>
            <a:off x="-762000" y="0"/>
            <a:ext cx="13716000" cy="6858000"/>
            <a:chOff x="0" y="0"/>
            <a:chExt cx="27432000" cy="13716000"/>
          </a:xfrm>
        </p:grpSpPr>
        <p:sp>
          <p:nvSpPr>
            <p:cNvPr id="165" name="Google Shape;165;p25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 extrusionOk="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44999"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25"/>
            <p:cNvSpPr/>
            <p:nvPr/>
          </p:nvSpPr>
          <p:spPr>
            <a:xfrm>
              <a:off x="1371600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 extrusionOk="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44999"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p25"/>
          <p:cNvGrpSpPr/>
          <p:nvPr/>
        </p:nvGrpSpPr>
        <p:grpSpPr>
          <a:xfrm>
            <a:off x="1933711" y="1783102"/>
            <a:ext cx="7607999" cy="3720422"/>
            <a:chOff x="0" y="-76200"/>
            <a:chExt cx="2073368" cy="1013907"/>
          </a:xfrm>
        </p:grpSpPr>
        <p:sp>
          <p:nvSpPr>
            <p:cNvPr id="168" name="Google Shape;168;p25"/>
            <p:cNvSpPr/>
            <p:nvPr/>
          </p:nvSpPr>
          <p:spPr>
            <a:xfrm>
              <a:off x="0" y="0"/>
              <a:ext cx="2073368" cy="937707"/>
            </a:xfrm>
            <a:custGeom>
              <a:avLst/>
              <a:gdLst/>
              <a:ahLst/>
              <a:cxnLst/>
              <a:rect l="l" t="t" r="r" b="b"/>
              <a:pathLst>
                <a:path w="2073368" h="937707" extrusionOk="0">
                  <a:moveTo>
                    <a:pt x="13568" y="0"/>
                  </a:moveTo>
                  <a:lnTo>
                    <a:pt x="2059800" y="0"/>
                  </a:lnTo>
                  <a:cubicBezTo>
                    <a:pt x="2067293" y="0"/>
                    <a:pt x="2073368" y="6075"/>
                    <a:pt x="2073368" y="13568"/>
                  </a:cubicBezTo>
                  <a:lnTo>
                    <a:pt x="2073368" y="924139"/>
                  </a:lnTo>
                  <a:cubicBezTo>
                    <a:pt x="2073368" y="931632"/>
                    <a:pt x="2067293" y="937707"/>
                    <a:pt x="2059800" y="937707"/>
                  </a:cubicBezTo>
                  <a:lnTo>
                    <a:pt x="13568" y="937707"/>
                  </a:lnTo>
                  <a:cubicBezTo>
                    <a:pt x="6075" y="937707"/>
                    <a:pt x="0" y="931632"/>
                    <a:pt x="0" y="924139"/>
                  </a:cubicBezTo>
                  <a:lnTo>
                    <a:pt x="0" y="13568"/>
                  </a:lnTo>
                  <a:cubicBezTo>
                    <a:pt x="0" y="6075"/>
                    <a:pt x="6075" y="0"/>
                    <a:pt x="13568" y="0"/>
                  </a:cubicBezTo>
                  <a:close/>
                </a:path>
              </a:pathLst>
            </a:custGeom>
            <a:solidFill>
              <a:srgbClr val="604ABD"/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25"/>
            <p:cNvSpPr txBox="1"/>
            <p:nvPr/>
          </p:nvSpPr>
          <p:spPr>
            <a:xfrm>
              <a:off x="0" y="-76200"/>
              <a:ext cx="2073368" cy="10139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50" tIns="33850" rIns="33850" bIns="33850" anchor="ctr" anchorCtr="0">
              <a:noAutofit/>
            </a:bodyPr>
            <a:lstStyle/>
            <a:p>
              <a:pPr marL="0" marR="0" lvl="0" indent="0" algn="ctr" rtl="0">
                <a:lnSpc>
                  <a:spcPct val="5055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p25"/>
          <p:cNvGrpSpPr/>
          <p:nvPr/>
        </p:nvGrpSpPr>
        <p:grpSpPr>
          <a:xfrm>
            <a:off x="2136775" y="1182097"/>
            <a:ext cx="7955855" cy="4089301"/>
            <a:chOff x="0" y="-76200"/>
            <a:chExt cx="2168167" cy="1114436"/>
          </a:xfrm>
        </p:grpSpPr>
        <p:sp>
          <p:nvSpPr>
            <p:cNvPr id="171" name="Google Shape;171;p25"/>
            <p:cNvSpPr/>
            <p:nvPr/>
          </p:nvSpPr>
          <p:spPr>
            <a:xfrm>
              <a:off x="0" y="0"/>
              <a:ext cx="2168167" cy="1038236"/>
            </a:xfrm>
            <a:custGeom>
              <a:avLst/>
              <a:gdLst/>
              <a:ahLst/>
              <a:cxnLst/>
              <a:rect l="l" t="t" r="r" b="b"/>
              <a:pathLst>
                <a:path w="2168167" h="1038236" extrusionOk="0">
                  <a:moveTo>
                    <a:pt x="12975" y="0"/>
                  </a:moveTo>
                  <a:lnTo>
                    <a:pt x="2155192" y="0"/>
                  </a:lnTo>
                  <a:cubicBezTo>
                    <a:pt x="2158634" y="0"/>
                    <a:pt x="2161934" y="1367"/>
                    <a:pt x="2164367" y="3800"/>
                  </a:cubicBezTo>
                  <a:cubicBezTo>
                    <a:pt x="2166800" y="6233"/>
                    <a:pt x="2168167" y="9534"/>
                    <a:pt x="2168167" y="12975"/>
                  </a:cubicBezTo>
                  <a:lnTo>
                    <a:pt x="2168167" y="1025261"/>
                  </a:lnTo>
                  <a:cubicBezTo>
                    <a:pt x="2168167" y="1032427"/>
                    <a:pt x="2162358" y="1038236"/>
                    <a:pt x="2155192" y="1038236"/>
                  </a:cubicBezTo>
                  <a:lnTo>
                    <a:pt x="12975" y="1038236"/>
                  </a:lnTo>
                  <a:cubicBezTo>
                    <a:pt x="5809" y="1038236"/>
                    <a:pt x="0" y="1032427"/>
                    <a:pt x="0" y="1025261"/>
                  </a:cubicBezTo>
                  <a:lnTo>
                    <a:pt x="0" y="12975"/>
                  </a:lnTo>
                  <a:cubicBezTo>
                    <a:pt x="0" y="5809"/>
                    <a:pt x="5809" y="0"/>
                    <a:pt x="12975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25"/>
            <p:cNvSpPr txBox="1"/>
            <p:nvPr/>
          </p:nvSpPr>
          <p:spPr>
            <a:xfrm>
              <a:off x="0" y="-76200"/>
              <a:ext cx="2168167" cy="11144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50" tIns="33850" rIns="33850" bIns="33850" anchor="ctr" anchorCtr="0">
              <a:noAutofit/>
            </a:bodyPr>
            <a:lstStyle/>
            <a:p>
              <a:pPr marL="0" marR="0" lvl="0" indent="0" algn="ctr" rtl="0">
                <a:lnSpc>
                  <a:spcPct val="5055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" name="Google Shape;173;p25"/>
          <p:cNvSpPr/>
          <p:nvPr/>
        </p:nvSpPr>
        <p:spPr>
          <a:xfrm rot="609046">
            <a:off x="8833337" y="4969974"/>
            <a:ext cx="1245643" cy="1245643"/>
          </a:xfrm>
          <a:custGeom>
            <a:avLst/>
            <a:gdLst/>
            <a:ahLst/>
            <a:cxnLst/>
            <a:rect l="l" t="t" r="r" b="b"/>
            <a:pathLst>
              <a:path w="1868465" h="1868465" extrusionOk="0">
                <a:moveTo>
                  <a:pt x="0" y="0"/>
                </a:moveTo>
                <a:lnTo>
                  <a:pt x="1868465" y="0"/>
                </a:lnTo>
                <a:lnTo>
                  <a:pt x="1868465" y="1868466"/>
                </a:lnTo>
                <a:lnTo>
                  <a:pt x="0" y="1868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5"/>
          <p:cNvSpPr/>
          <p:nvPr/>
        </p:nvSpPr>
        <p:spPr>
          <a:xfrm rot="-833735">
            <a:off x="748423" y="3987296"/>
            <a:ext cx="1371600" cy="1371600"/>
          </a:xfrm>
          <a:custGeom>
            <a:avLst/>
            <a:gdLst/>
            <a:ahLst/>
            <a:cxnLst/>
            <a:rect l="l" t="t" r="r" b="b"/>
            <a:pathLst>
              <a:path w="2057400" h="2057400" extrusionOk="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5"/>
          <p:cNvSpPr/>
          <p:nvPr/>
        </p:nvSpPr>
        <p:spPr>
          <a:xfrm rot="401264">
            <a:off x="8063040" y="763431"/>
            <a:ext cx="1408457" cy="1288097"/>
          </a:xfrm>
          <a:custGeom>
            <a:avLst/>
            <a:gdLst/>
            <a:ahLst/>
            <a:cxnLst/>
            <a:rect l="l" t="t" r="r" b="b"/>
            <a:pathLst>
              <a:path w="2112685" h="1932146" extrusionOk="0">
                <a:moveTo>
                  <a:pt x="0" y="0"/>
                </a:moveTo>
                <a:lnTo>
                  <a:pt x="2112685" y="0"/>
                </a:lnTo>
                <a:lnTo>
                  <a:pt x="2112685" y="1932147"/>
                </a:lnTo>
                <a:lnTo>
                  <a:pt x="0" y="19321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5"/>
          <p:cNvSpPr/>
          <p:nvPr/>
        </p:nvSpPr>
        <p:spPr>
          <a:xfrm>
            <a:off x="10878370" y="2527447"/>
            <a:ext cx="1255662" cy="1472525"/>
          </a:xfrm>
          <a:custGeom>
            <a:avLst/>
            <a:gdLst/>
            <a:ahLst/>
            <a:cxnLst/>
            <a:rect l="l" t="t" r="r" b="b"/>
            <a:pathLst>
              <a:path w="1883493" h="2208787" extrusionOk="0">
                <a:moveTo>
                  <a:pt x="0" y="0"/>
                </a:moveTo>
                <a:lnTo>
                  <a:pt x="1883492" y="0"/>
                </a:lnTo>
                <a:lnTo>
                  <a:pt x="1883492" y="2208787"/>
                </a:lnTo>
                <a:lnTo>
                  <a:pt x="0" y="22087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5"/>
          <p:cNvSpPr/>
          <p:nvPr/>
        </p:nvSpPr>
        <p:spPr>
          <a:xfrm rot="-1407933">
            <a:off x="4030162" y="5630245"/>
            <a:ext cx="1438225" cy="1651407"/>
          </a:xfrm>
          <a:custGeom>
            <a:avLst/>
            <a:gdLst/>
            <a:ahLst/>
            <a:cxnLst/>
            <a:rect l="l" t="t" r="r" b="b"/>
            <a:pathLst>
              <a:path w="2157337" h="2477110" extrusionOk="0">
                <a:moveTo>
                  <a:pt x="0" y="0"/>
                </a:moveTo>
                <a:lnTo>
                  <a:pt x="2157337" y="0"/>
                </a:lnTo>
                <a:lnTo>
                  <a:pt x="2157337" y="2477109"/>
                </a:lnTo>
                <a:lnTo>
                  <a:pt x="0" y="247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5"/>
          <p:cNvSpPr/>
          <p:nvPr/>
        </p:nvSpPr>
        <p:spPr>
          <a:xfrm rot="-280763">
            <a:off x="741105" y="987831"/>
            <a:ext cx="1934258" cy="1434868"/>
          </a:xfrm>
          <a:custGeom>
            <a:avLst/>
            <a:gdLst/>
            <a:ahLst/>
            <a:cxnLst/>
            <a:rect l="l" t="t" r="r" b="b"/>
            <a:pathLst>
              <a:path w="2901387" h="2152302" extrusionOk="0">
                <a:moveTo>
                  <a:pt x="0" y="0"/>
                </a:moveTo>
                <a:lnTo>
                  <a:pt x="2901387" y="0"/>
                </a:lnTo>
                <a:lnTo>
                  <a:pt x="2901387" y="2152301"/>
                </a:lnTo>
                <a:lnTo>
                  <a:pt x="0" y="2152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/>
          <p:nvPr/>
        </p:nvSpPr>
        <p:spPr>
          <a:xfrm>
            <a:off x="2874113" y="2250861"/>
            <a:ext cx="6481200" cy="18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1" b="0" i="0" u="none" strike="noStrike" cap="none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Patient Triage &amp; Appointment System</a:t>
            </a:r>
            <a:endParaRPr sz="4100"/>
          </a:p>
        </p:txBody>
      </p:sp>
      <p:sp>
        <p:nvSpPr>
          <p:cNvPr id="180" name="Google Shape;180;p25"/>
          <p:cNvSpPr txBox="1"/>
          <p:nvPr/>
        </p:nvSpPr>
        <p:spPr>
          <a:xfrm>
            <a:off x="2855368" y="4330086"/>
            <a:ext cx="6481261" cy="52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25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Team members: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Yuyun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 Yang,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Jingwei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 He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>
            <a:spLocks noGrp="1"/>
          </p:cNvSpPr>
          <p:nvPr>
            <p:ph type="title"/>
          </p:nvPr>
        </p:nvSpPr>
        <p:spPr>
          <a:xfrm>
            <a:off x="439699" y="425275"/>
            <a:ext cx="11273325" cy="1026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8875"/>
              </a:lnSpc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4800"/>
              <a:buFont typeface="Arial"/>
              <a:buNone/>
            </a:pPr>
            <a:r>
              <a:rPr lang="en-US" sz="4800" dirty="0">
                <a:solidFill>
                  <a:srgbClr val="4A90E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Patient Triage &amp; Appointment System</a:t>
            </a:r>
            <a:endParaRPr sz="8800" dirty="0">
              <a:solidFill>
                <a:srgbClr val="4A90E2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87" name="Google Shape;187;p26"/>
          <p:cNvSpPr txBox="1"/>
          <p:nvPr/>
        </p:nvSpPr>
        <p:spPr>
          <a:xfrm>
            <a:off x="6059365" y="2620141"/>
            <a:ext cx="6096000" cy="3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000" i="0" u="none" strike="noStrike" cap="none">
                <a:solidFill>
                  <a:schemeClr val="dk1"/>
                </a:solidFill>
              </a:rPr>
              <a:t>backend system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developed for dental clinics, enabling </a:t>
            </a: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DOCTOR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roles to manage appointments with proper access.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Highlights:</a:t>
            </a:r>
            <a:endParaRPr sz="2000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270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Built with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Spring Boot + PostgreSQL + Docker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Implements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RBAC </a:t>
            </a:r>
            <a:r>
              <a:rPr lang="en-US" sz="2000">
                <a:solidFill>
                  <a:schemeClr val="dk1"/>
                </a:solidFill>
              </a:rPr>
              <a:t>(Role-Based Access Control)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Provides full Create / Read / Update / Delete (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CRUD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operations for appointments</a:t>
            </a:r>
            <a:endParaRPr sz="2000"/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Designed with a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clean API structure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scalable layered architecture</a:t>
            </a:r>
            <a:endParaRPr sz="2000"/>
          </a:p>
        </p:txBody>
      </p:sp>
      <p:sp>
        <p:nvSpPr>
          <p:cNvPr id="188" name="Google Shape;188;p26"/>
          <p:cNvSpPr txBox="1"/>
          <p:nvPr/>
        </p:nvSpPr>
        <p:spPr>
          <a:xfrm>
            <a:off x="439700" y="2620141"/>
            <a:ext cx="5323200" cy="31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healthcare industry faces increasing administrative workload and staffing shortages, especially in clinics with high patient volume.</a:t>
            </a:r>
            <a:endParaRPr sz="16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address these challenges, we designed a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clean, lightweight backend system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streamlines clinical operations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including:</a:t>
            </a:r>
            <a:endParaRPr sz="1600"/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Secure patient data management</a:t>
            </a:r>
            <a:endParaRPr sz="1600"/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Appointment scheduling support</a:t>
            </a:r>
            <a:endParaRPr sz="1600"/>
          </a:p>
        </p:txBody>
      </p:sp>
      <p:sp>
        <p:nvSpPr>
          <p:cNvPr id="189" name="Google Shape;189;p26"/>
          <p:cNvSpPr/>
          <p:nvPr/>
        </p:nvSpPr>
        <p:spPr>
          <a:xfrm>
            <a:off x="1862002" y="1807395"/>
            <a:ext cx="2478600" cy="442200"/>
          </a:xfrm>
          <a:prstGeom prst="roundRect">
            <a:avLst>
              <a:gd name="adj" fmla="val 16667"/>
            </a:avLst>
          </a:prstGeom>
          <a:solidFill>
            <a:srgbClr val="6EB1FF"/>
          </a:solidFill>
          <a:ln w="19050" cap="flat" cmpd="sng">
            <a:solidFill>
              <a:srgbClr val="6EB1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 b="1"/>
          </a:p>
        </p:txBody>
      </p:sp>
      <p:sp>
        <p:nvSpPr>
          <p:cNvPr id="190" name="Google Shape;190;p26"/>
          <p:cNvSpPr/>
          <p:nvPr/>
        </p:nvSpPr>
        <p:spPr>
          <a:xfrm>
            <a:off x="7596132" y="1807395"/>
            <a:ext cx="2478600" cy="442200"/>
          </a:xfrm>
          <a:prstGeom prst="roundRect">
            <a:avLst>
              <a:gd name="adj" fmla="val 16667"/>
            </a:avLst>
          </a:prstGeom>
          <a:solidFill>
            <a:srgbClr val="6EB1FF"/>
          </a:solidFill>
          <a:ln w="19050" cap="flat" cmpd="sng">
            <a:solidFill>
              <a:srgbClr val="6EB1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Goals</a:t>
            </a:r>
            <a:endParaRPr b="1"/>
          </a:p>
        </p:txBody>
      </p:sp>
      <p:cxnSp>
        <p:nvCxnSpPr>
          <p:cNvPr id="191" name="Google Shape;191;p26"/>
          <p:cNvCxnSpPr/>
          <p:nvPr/>
        </p:nvCxnSpPr>
        <p:spPr>
          <a:xfrm>
            <a:off x="5794589" y="2577921"/>
            <a:ext cx="0" cy="3472800"/>
          </a:xfrm>
          <a:prstGeom prst="straightConnector1">
            <a:avLst/>
          </a:prstGeom>
          <a:noFill/>
          <a:ln w="19050" cap="flat" cmpd="sng">
            <a:solidFill>
              <a:srgbClr val="6EB1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2" name="Google Shape;192;p26"/>
          <p:cNvSpPr/>
          <p:nvPr/>
        </p:nvSpPr>
        <p:spPr>
          <a:xfrm>
            <a:off x="11621465" y="158043"/>
            <a:ext cx="395111" cy="395111"/>
          </a:xfrm>
          <a:prstGeom prst="ellipse">
            <a:avLst/>
          </a:prstGeom>
          <a:solidFill>
            <a:srgbClr val="9491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" name="Google Shape;198;p27"/>
          <p:cNvGraphicFramePr/>
          <p:nvPr/>
        </p:nvGraphicFramePr>
        <p:xfrm>
          <a:off x="728662" y="1849353"/>
          <a:ext cx="10744225" cy="4439775"/>
        </p:xfrm>
        <a:graphic>
          <a:graphicData uri="http://schemas.openxmlformats.org/drawingml/2006/table">
            <a:tbl>
              <a:tblPr>
                <a:noFill/>
                <a:tableStyleId>{3BF350F1-D91B-4188-B3F4-7A21AF22964B}</a:tableStyleId>
              </a:tblPr>
              <a:tblGrid>
                <a:gridCol w="215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4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Function / Role</a:t>
                      </a:r>
                      <a:endParaRPr sz="2800" b="1" u="none" strike="noStrike" cap="none"/>
                    </a:p>
                  </a:txBody>
                  <a:tcPr marL="63500" marR="63500" marT="63500" marB="63500" anchor="ctr">
                    <a:lnL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Doctor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500" b="1" u="none" strike="noStrike" cap="none">
                          <a:solidFill>
                            <a:srgbClr val="FF0000"/>
                          </a:solidFill>
                        </a:rPr>
                        <a:t>manage own appointments only</a:t>
                      </a: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2700" b="0" u="none" strike="noStrike" cap="none"/>
                    </a:p>
                  </a:txBody>
                  <a:tcPr marL="63500" marR="63500" marT="63500" marB="63500">
                    <a:lnL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Patient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500" b="1" u="none" strike="noStrike" cap="none">
                          <a:solidFill>
                            <a:srgbClr val="FF0000"/>
                          </a:solidFill>
                        </a:rPr>
                        <a:t>manage own appointments only</a:t>
                      </a: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2700" b="0" u="none" strike="noStrike" cap="none"/>
                    </a:p>
                  </a:txBody>
                  <a:tcPr marL="63500" marR="63500" marT="63500" marB="63500">
                    <a:lnL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Admin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500" b="1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 permissions</a:t>
                      </a:r>
                      <a:r>
                        <a:rPr lang="en-US" sz="15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2700" u="none" strike="noStrike" cap="none"/>
                    </a:p>
                  </a:txBody>
                  <a:tcPr marL="63500" marR="63500" marT="63500" marB="63500">
                    <a:lnL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7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Create appointment</a:t>
                      </a:r>
                      <a:endParaRPr sz="2800" u="none" strike="noStrike" cap="none"/>
                    </a:p>
                  </a:txBody>
                  <a:tcPr marL="63500" marR="63500" marT="63500" marB="63500" anchor="ctr">
                    <a:lnL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*Check time conflict with the doctor’s own schedule</a:t>
                      </a:r>
                      <a:endParaRPr sz="2800" u="none" strike="noStrike" cap="none"/>
                    </a:p>
                  </a:txBody>
                  <a:tcPr marL="63500" marR="63500" marT="63500" marB="63500" anchor="ctr">
                    <a:lnL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*Check doctor’s availability</a:t>
                      </a:r>
                      <a:endParaRPr sz="28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*Check time conflict with the patient’s own schedule</a:t>
                      </a:r>
                      <a:endParaRPr sz="2800" u="none" strike="noStrike" cap="none"/>
                    </a:p>
                  </a:txBody>
                  <a:tcPr marL="63500" marR="63500" marT="63500" marB="63500" anchor="ctr">
                    <a:lnL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Full access</a:t>
                      </a:r>
                      <a:endParaRPr sz="2800" u="none" strike="noStrike" cap="none"/>
                    </a:p>
                  </a:txBody>
                  <a:tcPr marL="63500" marR="63500" marT="63500" marB="63500" anchor="ctr">
                    <a:lnL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6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Read appointment</a:t>
                      </a:r>
                      <a:endParaRPr sz="2800" u="none" strike="noStrike" cap="none"/>
                    </a:p>
                  </a:txBody>
                  <a:tcPr marL="63500" marR="63500" marT="63500" marB="63500" anchor="ctr">
                    <a:lnL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*View all appointments involving the doctor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*patient profile(full)</a:t>
                      </a:r>
                      <a:endParaRPr/>
                    </a:p>
                  </a:txBody>
                  <a:tcPr marL="63500" marR="63500" marT="63500" marB="63500" anchor="ctr">
                    <a:lnL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*View own appointments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*View only basic doctor profile (firstname, last name, specialty)</a:t>
                      </a:r>
                      <a:endParaRPr/>
                    </a:p>
                  </a:txBody>
                  <a:tcPr marL="63500" marR="63500" marT="63500" marB="63500" anchor="ctr">
                    <a:lnL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Full access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 anchor="ctr">
                    <a:lnL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6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Update appointment</a:t>
                      </a:r>
                      <a:endParaRPr sz="2800" u="none" strike="noStrike" cap="none"/>
                    </a:p>
                  </a:txBody>
                  <a:tcPr marL="63500" marR="63500" marT="63500" marB="63500" anchor="ctr">
                    <a:lnL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*Modify appointments belonging to the doctor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 anchor="ctr">
                    <a:lnL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*Modify own appointments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 anchor="ctr">
                    <a:lnL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Full access</a:t>
                      </a:r>
                      <a:endParaRPr sz="2800" u="none" strike="noStrike" cap="none"/>
                    </a:p>
                  </a:txBody>
                  <a:tcPr marL="63500" marR="63500" marT="63500" marB="63500" anchor="ctr">
                    <a:lnL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6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Delete appointment</a:t>
                      </a:r>
                      <a:endParaRPr sz="2800" u="none" strike="noStrike" cap="none"/>
                    </a:p>
                  </a:txBody>
                  <a:tcPr marL="63500" marR="63500" marT="63500" marB="63500" anchor="ctr">
                    <a:lnL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*Delete own appointments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 anchor="ctr">
                    <a:lnL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*Delete own appointments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 anchor="ctr">
                    <a:lnL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Full access</a:t>
                      </a:r>
                      <a:endParaRPr sz="2800" u="none" strike="noStrike" cap="none"/>
                    </a:p>
                  </a:txBody>
                  <a:tcPr marL="63500" marR="63500" marT="63500" marB="63500" anchor="ctr">
                    <a:lnL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EB1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9" name="Google Shape;199;p27"/>
          <p:cNvSpPr txBox="1"/>
          <p:nvPr/>
        </p:nvSpPr>
        <p:spPr>
          <a:xfrm>
            <a:off x="439700" y="425284"/>
            <a:ext cx="10515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875"/>
              </a:lnSpc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4A90E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Role-based Access Control &amp; CRUD</a:t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200" name="Google Shape;200;p27"/>
          <p:cNvSpPr/>
          <p:nvPr/>
        </p:nvSpPr>
        <p:spPr>
          <a:xfrm>
            <a:off x="11621465" y="158043"/>
            <a:ext cx="395111" cy="395111"/>
          </a:xfrm>
          <a:prstGeom prst="ellipse">
            <a:avLst/>
          </a:prstGeom>
          <a:solidFill>
            <a:srgbClr val="FF8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>
            <a:spLocks noGrp="1"/>
          </p:cNvSpPr>
          <p:nvPr>
            <p:ph type="title"/>
          </p:nvPr>
        </p:nvSpPr>
        <p:spPr>
          <a:xfrm>
            <a:off x="208931" y="-5927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90E3"/>
              </a:buClr>
              <a:buSzPts val="2800"/>
              <a:buFont typeface="Play"/>
              <a:buNone/>
            </a:pPr>
            <a:r>
              <a:rPr lang="en-US" sz="2800" b="1">
                <a:solidFill>
                  <a:srgbClr val="4B90E3"/>
                </a:solidFill>
                <a:latin typeface="DM Sans"/>
                <a:ea typeface="DM Sans"/>
                <a:cs typeface="DM Sans"/>
                <a:sym typeface="DM Sans"/>
              </a:rPr>
              <a:t>Architecture Overview</a:t>
            </a:r>
            <a:br>
              <a:rPr lang="en-US" sz="2800">
                <a:solidFill>
                  <a:srgbClr val="4B90E3"/>
                </a:solidFill>
                <a:latin typeface="DM Sans Medium"/>
                <a:ea typeface="DM Sans Medium"/>
                <a:cs typeface="DM Sans Medium"/>
                <a:sym typeface="DM Sans Medium"/>
              </a:rPr>
            </a:br>
            <a:r>
              <a:rPr lang="en-US" sz="1800">
                <a:solidFill>
                  <a:srgbClr val="4B90E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Patient Triage &amp; Appointment System</a:t>
            </a:r>
            <a:endParaRPr sz="2800">
              <a:solidFill>
                <a:srgbClr val="4B90E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pic>
        <p:nvPicPr>
          <p:cNvPr id="207" name="Google Shape;207;p28" descr="Circle with left arrow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-1111801" y="711218"/>
            <a:ext cx="379476" cy="37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060013" y="1849003"/>
            <a:ext cx="1896425" cy="2463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1998384" y="4682040"/>
            <a:ext cx="1834796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8"/>
          <p:cNvSpPr/>
          <p:nvPr/>
        </p:nvSpPr>
        <p:spPr>
          <a:xfrm>
            <a:off x="1542326" y="1305353"/>
            <a:ext cx="1657500" cy="7773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(API gateway)</a:t>
            </a:r>
            <a:endParaRPr sz="1100"/>
          </a:p>
        </p:txBody>
      </p:sp>
      <p:sp>
        <p:nvSpPr>
          <p:cNvPr id="211" name="Google Shape;211;p28"/>
          <p:cNvSpPr/>
          <p:nvPr/>
        </p:nvSpPr>
        <p:spPr>
          <a:xfrm>
            <a:off x="1542326" y="3163968"/>
            <a:ext cx="1657500" cy="7773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Service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(Business logic)</a:t>
            </a:r>
            <a:r>
              <a:rPr lang="en-US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00"/>
          </a:p>
        </p:txBody>
      </p:sp>
      <p:sp>
        <p:nvSpPr>
          <p:cNvPr id="212" name="Google Shape;212;p28"/>
          <p:cNvSpPr/>
          <p:nvPr/>
        </p:nvSpPr>
        <p:spPr>
          <a:xfrm>
            <a:off x="1542325" y="5022586"/>
            <a:ext cx="1657500" cy="7773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(Data access)</a:t>
            </a:r>
            <a:endParaRPr sz="1100"/>
          </a:p>
        </p:txBody>
      </p:sp>
      <p:sp>
        <p:nvSpPr>
          <p:cNvPr id="213" name="Google Shape;213;p28"/>
          <p:cNvSpPr/>
          <p:nvPr/>
        </p:nvSpPr>
        <p:spPr>
          <a:xfrm>
            <a:off x="3438366" y="1305345"/>
            <a:ext cx="6255000" cy="77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28" descr="Database with solid fil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08600" y="5960176"/>
            <a:ext cx="914400" cy="69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8"/>
          <p:cNvSpPr/>
          <p:nvPr/>
        </p:nvSpPr>
        <p:spPr>
          <a:xfrm>
            <a:off x="1542325" y="5960178"/>
            <a:ext cx="1657500" cy="698100"/>
          </a:xfrm>
          <a:prstGeom prst="rect">
            <a:avLst/>
          </a:prstGeom>
          <a:solidFill>
            <a:srgbClr val="9491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（Data storage）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28" descr="Box with solid fil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78060" y="3172289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8"/>
          <p:cNvSpPr/>
          <p:nvPr/>
        </p:nvSpPr>
        <p:spPr>
          <a:xfrm>
            <a:off x="9862350" y="1305352"/>
            <a:ext cx="463800" cy="5352900"/>
          </a:xfrm>
          <a:prstGeom prst="righ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rgbClr val="00C2A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8"/>
          <p:cNvSpPr txBox="1"/>
          <p:nvPr/>
        </p:nvSpPr>
        <p:spPr>
          <a:xfrm>
            <a:off x="10064102" y="4089401"/>
            <a:ext cx="214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C2A8"/>
                </a:solidFill>
                <a:latin typeface="Arial"/>
                <a:ea typeface="Arial"/>
                <a:cs typeface="Arial"/>
                <a:sym typeface="Arial"/>
              </a:rPr>
              <a:t>Docker-compose</a:t>
            </a:r>
            <a:endParaRPr sz="1800" b="1">
              <a:solidFill>
                <a:srgbClr val="00C2A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C2A8"/>
                </a:solidFill>
                <a:latin typeface="Arial"/>
                <a:ea typeface="Arial"/>
                <a:cs typeface="Arial"/>
                <a:sym typeface="Arial"/>
              </a:rPr>
              <a:t>(Container)</a:t>
            </a:r>
            <a:endParaRPr/>
          </a:p>
        </p:txBody>
      </p:sp>
      <p:sp>
        <p:nvSpPr>
          <p:cNvPr id="219" name="Google Shape;219;p28"/>
          <p:cNvSpPr/>
          <p:nvPr/>
        </p:nvSpPr>
        <p:spPr>
          <a:xfrm>
            <a:off x="3438366" y="3163961"/>
            <a:ext cx="6255000" cy="77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8"/>
          <p:cNvSpPr/>
          <p:nvPr/>
        </p:nvSpPr>
        <p:spPr>
          <a:xfrm>
            <a:off x="3438366" y="5022579"/>
            <a:ext cx="6255000" cy="77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8"/>
          <p:cNvSpPr/>
          <p:nvPr/>
        </p:nvSpPr>
        <p:spPr>
          <a:xfrm>
            <a:off x="1542326" y="2234660"/>
            <a:ext cx="1657500" cy="7773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DTO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(API contract)</a:t>
            </a:r>
            <a:endParaRPr sz="1500"/>
          </a:p>
        </p:txBody>
      </p:sp>
      <p:sp>
        <p:nvSpPr>
          <p:cNvPr id="222" name="Google Shape;222;p28"/>
          <p:cNvSpPr/>
          <p:nvPr/>
        </p:nvSpPr>
        <p:spPr>
          <a:xfrm>
            <a:off x="3438366" y="2234653"/>
            <a:ext cx="6255000" cy="77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8"/>
          <p:cNvSpPr/>
          <p:nvPr/>
        </p:nvSpPr>
        <p:spPr>
          <a:xfrm>
            <a:off x="1542326" y="4093276"/>
            <a:ext cx="1657500" cy="7773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Entity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(Data model)</a:t>
            </a: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/>
          </a:p>
        </p:txBody>
      </p:sp>
      <p:sp>
        <p:nvSpPr>
          <p:cNvPr id="224" name="Google Shape;224;p28"/>
          <p:cNvSpPr/>
          <p:nvPr/>
        </p:nvSpPr>
        <p:spPr>
          <a:xfrm>
            <a:off x="3438366" y="4093269"/>
            <a:ext cx="6255000" cy="77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" name="Google Shape;225;p28"/>
          <p:cNvGrpSpPr/>
          <p:nvPr/>
        </p:nvGrpSpPr>
        <p:grpSpPr>
          <a:xfrm>
            <a:off x="4237171" y="409548"/>
            <a:ext cx="1612862" cy="856293"/>
            <a:chOff x="-210804" y="-50895"/>
            <a:chExt cx="2034900" cy="1080360"/>
          </a:xfrm>
        </p:grpSpPr>
        <p:pic>
          <p:nvPicPr>
            <p:cNvPr id="226" name="Google Shape;226;p28" descr="User with solid fill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97565" y="-50895"/>
              <a:ext cx="795131" cy="7951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p28"/>
            <p:cNvSpPr txBox="1"/>
            <p:nvPr/>
          </p:nvSpPr>
          <p:spPr>
            <a:xfrm>
              <a:off x="-210804" y="640965"/>
              <a:ext cx="2034900" cy="38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Frontend / client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p28"/>
          <p:cNvSpPr txBox="1"/>
          <p:nvPr/>
        </p:nvSpPr>
        <p:spPr>
          <a:xfrm>
            <a:off x="5283029" y="465594"/>
            <a:ext cx="3084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2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none" strike="noStrike">
                <a:solidFill>
                  <a:srgbClr val="6EB1FF"/>
                </a:solidFill>
                <a:latin typeface="Arial"/>
                <a:ea typeface="Arial"/>
                <a:cs typeface="Arial"/>
                <a:sym typeface="Arial"/>
              </a:rPr>
              <a:t>send Http Requests</a:t>
            </a:r>
            <a:endParaRPr/>
          </a:p>
        </p:txBody>
      </p:sp>
      <p:sp>
        <p:nvSpPr>
          <p:cNvPr id="229" name="Google Shape;229;p28"/>
          <p:cNvSpPr/>
          <p:nvPr/>
        </p:nvSpPr>
        <p:spPr>
          <a:xfrm rot="5400000">
            <a:off x="6455977" y="1007941"/>
            <a:ext cx="219600" cy="221700"/>
          </a:xfrm>
          <a:prstGeom prst="rightArrow">
            <a:avLst>
              <a:gd name="adj1" fmla="val 50000"/>
              <a:gd name="adj2" fmla="val 66940"/>
            </a:avLst>
          </a:prstGeom>
          <a:solidFill>
            <a:srgbClr val="6EB1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8"/>
          <p:cNvSpPr txBox="1"/>
          <p:nvPr/>
        </p:nvSpPr>
        <p:spPr>
          <a:xfrm>
            <a:off x="3485375" y="2330878"/>
            <a:ext cx="42681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○ AppointmentRequest / Response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○ UserLoginRequest / UserRegisterRequest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8"/>
          <p:cNvSpPr txBox="1"/>
          <p:nvPr/>
        </p:nvSpPr>
        <p:spPr>
          <a:xfrm>
            <a:off x="6885963" y="2340800"/>
            <a:ext cx="1536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○ UserProfile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8"/>
          <p:cNvSpPr txBox="1"/>
          <p:nvPr/>
        </p:nvSpPr>
        <p:spPr>
          <a:xfrm>
            <a:off x="3485378" y="1414124"/>
            <a:ext cx="2434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○ AppointmentController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○ UserController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8"/>
          <p:cNvSpPr txBox="1"/>
          <p:nvPr/>
        </p:nvSpPr>
        <p:spPr>
          <a:xfrm>
            <a:off x="3485378" y="3255888"/>
            <a:ext cx="2188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○ AppointmentService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○ UserService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8"/>
          <p:cNvSpPr txBox="1"/>
          <p:nvPr/>
        </p:nvSpPr>
        <p:spPr>
          <a:xfrm>
            <a:off x="3485375" y="4189503"/>
            <a:ext cx="4615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○ User / UserRole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○ DoctorProfile / AdminProfile / PatientProfile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8"/>
          <p:cNvSpPr txBox="1"/>
          <p:nvPr/>
        </p:nvSpPr>
        <p:spPr>
          <a:xfrm>
            <a:off x="3485378" y="5103170"/>
            <a:ext cx="2490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○ AppointmentRepository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○ UserRepository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8"/>
          <p:cNvSpPr/>
          <p:nvPr/>
        </p:nvSpPr>
        <p:spPr>
          <a:xfrm rot="5400000">
            <a:off x="6455977" y="2052714"/>
            <a:ext cx="219600" cy="221700"/>
          </a:xfrm>
          <a:prstGeom prst="rightArrow">
            <a:avLst>
              <a:gd name="adj1" fmla="val 50000"/>
              <a:gd name="adj2" fmla="val 66940"/>
            </a:avLst>
          </a:prstGeom>
          <a:solidFill>
            <a:srgbClr val="FF8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8"/>
          <p:cNvSpPr/>
          <p:nvPr/>
        </p:nvSpPr>
        <p:spPr>
          <a:xfrm rot="5400000">
            <a:off x="6455977" y="2979538"/>
            <a:ext cx="219600" cy="221700"/>
          </a:xfrm>
          <a:prstGeom prst="rightArrow">
            <a:avLst>
              <a:gd name="adj1" fmla="val 50000"/>
              <a:gd name="adj2" fmla="val 66940"/>
            </a:avLst>
          </a:prstGeom>
          <a:solidFill>
            <a:srgbClr val="FF8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8"/>
          <p:cNvSpPr/>
          <p:nvPr/>
        </p:nvSpPr>
        <p:spPr>
          <a:xfrm rot="5400000">
            <a:off x="6455977" y="3908027"/>
            <a:ext cx="219600" cy="221700"/>
          </a:xfrm>
          <a:prstGeom prst="rightArrow">
            <a:avLst>
              <a:gd name="adj1" fmla="val 50000"/>
              <a:gd name="adj2" fmla="val 66940"/>
            </a:avLst>
          </a:prstGeom>
          <a:solidFill>
            <a:srgbClr val="FF8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8"/>
          <p:cNvSpPr/>
          <p:nvPr/>
        </p:nvSpPr>
        <p:spPr>
          <a:xfrm rot="5400000">
            <a:off x="6455977" y="4812230"/>
            <a:ext cx="219600" cy="221700"/>
          </a:xfrm>
          <a:prstGeom prst="rightArrow">
            <a:avLst>
              <a:gd name="adj1" fmla="val 50000"/>
              <a:gd name="adj2" fmla="val 66940"/>
            </a:avLst>
          </a:prstGeom>
          <a:solidFill>
            <a:srgbClr val="FF8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8"/>
          <p:cNvSpPr/>
          <p:nvPr/>
        </p:nvSpPr>
        <p:spPr>
          <a:xfrm rot="5400000">
            <a:off x="6455977" y="5750591"/>
            <a:ext cx="219600" cy="221700"/>
          </a:xfrm>
          <a:prstGeom prst="rightArrow">
            <a:avLst>
              <a:gd name="adj1" fmla="val 50000"/>
              <a:gd name="adj2" fmla="val 66940"/>
            </a:avLst>
          </a:prstGeom>
          <a:solidFill>
            <a:srgbClr val="FF8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8"/>
          <p:cNvSpPr txBox="1"/>
          <p:nvPr/>
        </p:nvSpPr>
        <p:spPr>
          <a:xfrm>
            <a:off x="6836366" y="4189501"/>
            <a:ext cx="1536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○ Appointment</a:t>
            </a:r>
            <a:endParaRPr/>
          </a:p>
        </p:txBody>
      </p:sp>
      <p:grpSp>
        <p:nvGrpSpPr>
          <p:cNvPr id="242" name="Google Shape;242;p28"/>
          <p:cNvGrpSpPr/>
          <p:nvPr/>
        </p:nvGrpSpPr>
        <p:grpSpPr>
          <a:xfrm>
            <a:off x="8262782" y="4243299"/>
            <a:ext cx="1363899" cy="477178"/>
            <a:chOff x="8363971" y="4037410"/>
            <a:chExt cx="1363899" cy="477178"/>
          </a:xfrm>
        </p:grpSpPr>
        <p:sp>
          <p:nvSpPr>
            <p:cNvPr id="243" name="Google Shape;243;p28"/>
            <p:cNvSpPr/>
            <p:nvPr/>
          </p:nvSpPr>
          <p:spPr>
            <a:xfrm>
              <a:off x="8389929" y="4037410"/>
              <a:ext cx="1328680" cy="477178"/>
            </a:xfrm>
            <a:prstGeom prst="flowChartTerminator">
              <a:avLst/>
            </a:prstGeom>
            <a:solidFill>
              <a:srgbClr val="FFFD78">
                <a:alpha val="6274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8"/>
            <p:cNvSpPr txBox="1"/>
            <p:nvPr/>
          </p:nvSpPr>
          <p:spPr>
            <a:xfrm>
              <a:off x="8363971" y="4037410"/>
              <a:ext cx="1363899" cy="4770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Persistent domain objects</a:t>
              </a:r>
              <a:endParaRPr/>
            </a:p>
          </p:txBody>
        </p:sp>
      </p:grpSp>
      <p:grpSp>
        <p:nvGrpSpPr>
          <p:cNvPr id="245" name="Google Shape;245;p28"/>
          <p:cNvGrpSpPr/>
          <p:nvPr/>
        </p:nvGrpSpPr>
        <p:grpSpPr>
          <a:xfrm>
            <a:off x="8271249" y="5172610"/>
            <a:ext cx="1363899" cy="477178"/>
            <a:chOff x="8372438" y="4037410"/>
            <a:chExt cx="1363899" cy="477178"/>
          </a:xfrm>
        </p:grpSpPr>
        <p:sp>
          <p:nvSpPr>
            <p:cNvPr id="246" name="Google Shape;246;p28"/>
            <p:cNvSpPr/>
            <p:nvPr/>
          </p:nvSpPr>
          <p:spPr>
            <a:xfrm>
              <a:off x="8389929" y="4037410"/>
              <a:ext cx="1328680" cy="477178"/>
            </a:xfrm>
            <a:prstGeom prst="flowChartTerminator">
              <a:avLst/>
            </a:prstGeom>
            <a:solidFill>
              <a:srgbClr val="FFFD78">
                <a:alpha val="6274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8"/>
            <p:cNvSpPr txBox="1"/>
            <p:nvPr/>
          </p:nvSpPr>
          <p:spPr>
            <a:xfrm>
              <a:off x="8372438" y="4120745"/>
              <a:ext cx="1363899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CRUD via JPA</a:t>
              </a:r>
              <a:endParaRPr/>
            </a:p>
          </p:txBody>
        </p:sp>
      </p:grpSp>
      <p:grpSp>
        <p:nvGrpSpPr>
          <p:cNvPr id="248" name="Google Shape;248;p28"/>
          <p:cNvGrpSpPr/>
          <p:nvPr/>
        </p:nvGrpSpPr>
        <p:grpSpPr>
          <a:xfrm>
            <a:off x="8252622" y="3233371"/>
            <a:ext cx="1477489" cy="290506"/>
            <a:chOff x="8353811" y="4037410"/>
            <a:chExt cx="1477489" cy="477178"/>
          </a:xfrm>
        </p:grpSpPr>
        <p:sp>
          <p:nvSpPr>
            <p:cNvPr id="249" name="Google Shape;249;p28"/>
            <p:cNvSpPr/>
            <p:nvPr/>
          </p:nvSpPr>
          <p:spPr>
            <a:xfrm>
              <a:off x="8389929" y="4037410"/>
              <a:ext cx="1328680" cy="477178"/>
            </a:xfrm>
            <a:prstGeom prst="flowChartTerminator">
              <a:avLst/>
            </a:prstGeom>
            <a:solidFill>
              <a:srgbClr val="FFFD78">
                <a:alpha val="6274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8"/>
            <p:cNvSpPr txBox="1"/>
            <p:nvPr/>
          </p:nvSpPr>
          <p:spPr>
            <a:xfrm>
              <a:off x="8353811" y="4087474"/>
              <a:ext cx="1477489" cy="3791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Role-based authorization</a:t>
              </a:r>
              <a:endParaRPr/>
            </a:p>
          </p:txBody>
        </p:sp>
      </p:grpSp>
      <p:grpSp>
        <p:nvGrpSpPr>
          <p:cNvPr id="251" name="Google Shape;251;p28"/>
          <p:cNvGrpSpPr/>
          <p:nvPr/>
        </p:nvGrpSpPr>
        <p:grpSpPr>
          <a:xfrm>
            <a:off x="8262782" y="1460857"/>
            <a:ext cx="1363899" cy="477178"/>
            <a:chOff x="8363971" y="4037410"/>
            <a:chExt cx="1363899" cy="477178"/>
          </a:xfrm>
        </p:grpSpPr>
        <p:sp>
          <p:nvSpPr>
            <p:cNvPr id="252" name="Google Shape;252;p28"/>
            <p:cNvSpPr/>
            <p:nvPr/>
          </p:nvSpPr>
          <p:spPr>
            <a:xfrm>
              <a:off x="8389929" y="4037410"/>
              <a:ext cx="1328680" cy="477178"/>
            </a:xfrm>
            <a:prstGeom prst="flowChartTerminator">
              <a:avLst/>
            </a:prstGeom>
            <a:solidFill>
              <a:srgbClr val="FFFD78">
                <a:alpha val="6274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8"/>
            <p:cNvSpPr txBox="1"/>
            <p:nvPr/>
          </p:nvSpPr>
          <p:spPr>
            <a:xfrm>
              <a:off x="8363971" y="4037410"/>
              <a:ext cx="1363899" cy="4770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Receives HTTP requests</a:t>
              </a:r>
              <a:endParaRPr/>
            </a:p>
          </p:txBody>
        </p:sp>
      </p:grpSp>
      <p:grpSp>
        <p:nvGrpSpPr>
          <p:cNvPr id="254" name="Google Shape;254;p28"/>
          <p:cNvGrpSpPr/>
          <p:nvPr/>
        </p:nvGrpSpPr>
        <p:grpSpPr>
          <a:xfrm>
            <a:off x="8262782" y="2424862"/>
            <a:ext cx="1363899" cy="477178"/>
            <a:chOff x="8363971" y="4037410"/>
            <a:chExt cx="1363899" cy="477178"/>
          </a:xfrm>
        </p:grpSpPr>
        <p:sp>
          <p:nvSpPr>
            <p:cNvPr id="255" name="Google Shape;255;p28"/>
            <p:cNvSpPr/>
            <p:nvPr/>
          </p:nvSpPr>
          <p:spPr>
            <a:xfrm>
              <a:off x="8389929" y="4037410"/>
              <a:ext cx="1328680" cy="477178"/>
            </a:xfrm>
            <a:prstGeom prst="flowChartTerminator">
              <a:avLst/>
            </a:prstGeom>
            <a:solidFill>
              <a:srgbClr val="FFFD78">
                <a:alpha val="6274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8"/>
            <p:cNvSpPr txBox="1"/>
            <p:nvPr/>
          </p:nvSpPr>
          <p:spPr>
            <a:xfrm>
              <a:off x="8363971" y="4037410"/>
              <a:ext cx="1363899" cy="4770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Prevent entity exposure</a:t>
              </a:r>
              <a:endParaRPr/>
            </a:p>
          </p:txBody>
        </p:sp>
      </p:grpSp>
      <p:grpSp>
        <p:nvGrpSpPr>
          <p:cNvPr id="257" name="Google Shape;257;p28"/>
          <p:cNvGrpSpPr/>
          <p:nvPr/>
        </p:nvGrpSpPr>
        <p:grpSpPr>
          <a:xfrm>
            <a:off x="8252622" y="3587996"/>
            <a:ext cx="1477489" cy="290506"/>
            <a:chOff x="8353811" y="4037410"/>
            <a:chExt cx="1477489" cy="477178"/>
          </a:xfrm>
        </p:grpSpPr>
        <p:sp>
          <p:nvSpPr>
            <p:cNvPr id="258" name="Google Shape;258;p28"/>
            <p:cNvSpPr/>
            <p:nvPr/>
          </p:nvSpPr>
          <p:spPr>
            <a:xfrm>
              <a:off x="8389929" y="4037410"/>
              <a:ext cx="1328680" cy="477178"/>
            </a:xfrm>
            <a:prstGeom prst="flowChartTerminator">
              <a:avLst/>
            </a:prstGeom>
            <a:solidFill>
              <a:srgbClr val="FFFD78">
                <a:alpha val="6274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8"/>
            <p:cNvSpPr txBox="1"/>
            <p:nvPr/>
          </p:nvSpPr>
          <p:spPr>
            <a:xfrm>
              <a:off x="8353811" y="4104162"/>
              <a:ext cx="1477489" cy="3538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Appointment conflict check</a:t>
              </a:r>
              <a:endParaRPr/>
            </a:p>
          </p:txBody>
        </p:sp>
      </p:grpSp>
      <p:sp>
        <p:nvSpPr>
          <p:cNvPr id="260" name="Google Shape;260;p28"/>
          <p:cNvSpPr/>
          <p:nvPr/>
        </p:nvSpPr>
        <p:spPr>
          <a:xfrm>
            <a:off x="11621465" y="158043"/>
            <a:ext cx="395100" cy="395100"/>
          </a:xfrm>
          <a:prstGeom prst="ellipse">
            <a:avLst/>
          </a:prstGeom>
          <a:solidFill>
            <a:srgbClr val="9491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/>
        </p:nvSpPr>
        <p:spPr>
          <a:xfrm>
            <a:off x="439700" y="425284"/>
            <a:ext cx="10515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875"/>
              </a:lnSpc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4A90E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Key OOD Concepts Applied</a:t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267" name="Google Shape;267;p29"/>
          <p:cNvSpPr txBox="1">
            <a:spLocks noGrp="1"/>
          </p:cNvSpPr>
          <p:nvPr>
            <p:ph type="body" idx="1"/>
          </p:nvPr>
        </p:nvSpPr>
        <p:spPr>
          <a:xfrm>
            <a:off x="2516050" y="1523825"/>
            <a:ext cx="8639100" cy="8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/>
              <a:t>We encapsulated domain logic within entities and services. Entities keep fields private, and services expose controlled operations. </a:t>
            </a:r>
            <a:endParaRPr sz="2200"/>
          </a:p>
        </p:txBody>
      </p:sp>
      <p:sp>
        <p:nvSpPr>
          <p:cNvPr id="268" name="Google Shape;268;p29"/>
          <p:cNvSpPr/>
          <p:nvPr/>
        </p:nvSpPr>
        <p:spPr>
          <a:xfrm>
            <a:off x="11621465" y="158043"/>
            <a:ext cx="395100" cy="395100"/>
          </a:xfrm>
          <a:prstGeom prst="ellipse">
            <a:avLst/>
          </a:prstGeom>
          <a:solidFill>
            <a:srgbClr val="FF8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69" name="Google Shape;269;p29"/>
          <p:cNvGrpSpPr/>
          <p:nvPr/>
        </p:nvGrpSpPr>
        <p:grpSpPr>
          <a:xfrm>
            <a:off x="439701" y="1575757"/>
            <a:ext cx="1962645" cy="686736"/>
            <a:chOff x="8363971" y="4324110"/>
            <a:chExt cx="1363800" cy="477198"/>
          </a:xfrm>
        </p:grpSpPr>
        <p:sp>
          <p:nvSpPr>
            <p:cNvPr id="270" name="Google Shape;270;p29"/>
            <p:cNvSpPr/>
            <p:nvPr/>
          </p:nvSpPr>
          <p:spPr>
            <a:xfrm>
              <a:off x="8389929" y="4324110"/>
              <a:ext cx="1328670" cy="477198"/>
            </a:xfrm>
            <a:prstGeom prst="flowChartTerminator">
              <a:avLst/>
            </a:prstGeom>
            <a:solidFill>
              <a:srgbClr val="FFFD78">
                <a:alpha val="62750"/>
              </a:srgbClr>
            </a:solidFill>
            <a:ln>
              <a:noFill/>
            </a:ln>
          </p:spPr>
          <p:txBody>
            <a:bodyPr spcFirstLastPara="1" wrap="square" lIns="131575" tIns="65775" rIns="131575" bIns="657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59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9"/>
            <p:cNvSpPr txBox="1"/>
            <p:nvPr/>
          </p:nvSpPr>
          <p:spPr>
            <a:xfrm>
              <a:off x="8363971" y="4420354"/>
              <a:ext cx="13638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1575" tIns="65775" rIns="131575" bIns="6577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8" b="1">
                  <a:solidFill>
                    <a:schemeClr val="dk1"/>
                  </a:solidFill>
                </a:rPr>
                <a:t>Encapsulation</a:t>
              </a:r>
              <a:endParaRPr sz="2014" b="1"/>
            </a:p>
          </p:txBody>
        </p:sp>
      </p:grpSp>
      <p:grpSp>
        <p:nvGrpSpPr>
          <p:cNvPr id="272" name="Google Shape;272;p29"/>
          <p:cNvGrpSpPr/>
          <p:nvPr/>
        </p:nvGrpSpPr>
        <p:grpSpPr>
          <a:xfrm>
            <a:off x="497926" y="2615961"/>
            <a:ext cx="1962645" cy="686736"/>
            <a:chOff x="8363971" y="4269944"/>
            <a:chExt cx="1363800" cy="477198"/>
          </a:xfrm>
        </p:grpSpPr>
        <p:sp>
          <p:nvSpPr>
            <p:cNvPr id="273" name="Google Shape;273;p29"/>
            <p:cNvSpPr/>
            <p:nvPr/>
          </p:nvSpPr>
          <p:spPr>
            <a:xfrm>
              <a:off x="8381538" y="4269944"/>
              <a:ext cx="1328670" cy="477198"/>
            </a:xfrm>
            <a:prstGeom prst="flowChartTerminator">
              <a:avLst/>
            </a:prstGeom>
            <a:solidFill>
              <a:srgbClr val="FFFD78">
                <a:alpha val="62750"/>
              </a:srgbClr>
            </a:solidFill>
            <a:ln>
              <a:noFill/>
            </a:ln>
          </p:spPr>
          <p:txBody>
            <a:bodyPr spcFirstLastPara="1" wrap="square" lIns="131575" tIns="65775" rIns="131575" bIns="657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59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9"/>
            <p:cNvSpPr txBox="1"/>
            <p:nvPr/>
          </p:nvSpPr>
          <p:spPr>
            <a:xfrm>
              <a:off x="8363971" y="4373701"/>
              <a:ext cx="13638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1575" tIns="65775" rIns="131575" bIns="6577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8" b="1">
                  <a:solidFill>
                    <a:schemeClr val="dk1"/>
                  </a:solidFill>
                </a:rPr>
                <a:t>Inheritance</a:t>
              </a:r>
              <a:endParaRPr sz="2014" b="1"/>
            </a:p>
          </p:txBody>
        </p:sp>
      </p:grpSp>
      <p:grpSp>
        <p:nvGrpSpPr>
          <p:cNvPr id="275" name="Google Shape;275;p29"/>
          <p:cNvGrpSpPr/>
          <p:nvPr/>
        </p:nvGrpSpPr>
        <p:grpSpPr>
          <a:xfrm>
            <a:off x="497926" y="4696385"/>
            <a:ext cx="1962645" cy="686736"/>
            <a:chOff x="8363971" y="4479502"/>
            <a:chExt cx="1363800" cy="477198"/>
          </a:xfrm>
        </p:grpSpPr>
        <p:sp>
          <p:nvSpPr>
            <p:cNvPr id="276" name="Google Shape;276;p29"/>
            <p:cNvSpPr/>
            <p:nvPr/>
          </p:nvSpPr>
          <p:spPr>
            <a:xfrm>
              <a:off x="8381538" y="4479502"/>
              <a:ext cx="1328670" cy="477198"/>
            </a:xfrm>
            <a:prstGeom prst="flowChartTerminator">
              <a:avLst/>
            </a:prstGeom>
            <a:solidFill>
              <a:srgbClr val="FFFD78">
                <a:alpha val="62750"/>
              </a:srgbClr>
            </a:solidFill>
            <a:ln>
              <a:noFill/>
            </a:ln>
          </p:spPr>
          <p:txBody>
            <a:bodyPr spcFirstLastPara="1" wrap="square" lIns="131575" tIns="65775" rIns="131575" bIns="657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59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9"/>
            <p:cNvSpPr txBox="1"/>
            <p:nvPr/>
          </p:nvSpPr>
          <p:spPr>
            <a:xfrm>
              <a:off x="8363971" y="4546170"/>
              <a:ext cx="13638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1575" tIns="65775" rIns="131575" bIns="6577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8" b="1">
                  <a:solidFill>
                    <a:schemeClr val="dk1"/>
                  </a:solidFill>
                </a:rPr>
                <a:t>Polymorphism</a:t>
              </a:r>
              <a:endParaRPr sz="2014" b="1"/>
            </a:p>
          </p:txBody>
        </p:sp>
      </p:grpSp>
      <p:sp>
        <p:nvSpPr>
          <p:cNvPr id="278" name="Google Shape;278;p29"/>
          <p:cNvSpPr txBox="1">
            <a:spLocks noGrp="1"/>
          </p:cNvSpPr>
          <p:nvPr>
            <p:ph type="body" idx="1"/>
          </p:nvPr>
        </p:nvSpPr>
        <p:spPr>
          <a:xfrm>
            <a:off x="2516050" y="2606586"/>
            <a:ext cx="9305100" cy="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/>
              <a:t>User roles share common fields in the User structure and extend with role-specific attributes through relational modeling.</a:t>
            </a:r>
            <a:endParaRPr sz="2200"/>
          </a:p>
        </p:txBody>
      </p:sp>
      <p:sp>
        <p:nvSpPr>
          <p:cNvPr id="279" name="Google Shape;279;p29"/>
          <p:cNvSpPr txBox="1">
            <a:spLocks noGrp="1"/>
          </p:cNvSpPr>
          <p:nvPr>
            <p:ph type="body" idx="1"/>
          </p:nvPr>
        </p:nvSpPr>
        <p:spPr>
          <a:xfrm>
            <a:off x="2572000" y="4774783"/>
            <a:ext cx="93051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/>
              <a:t>Service methods behave differently based on user roles.</a:t>
            </a:r>
            <a:endParaRPr sz="2200"/>
          </a:p>
        </p:txBody>
      </p:sp>
      <p:grpSp>
        <p:nvGrpSpPr>
          <p:cNvPr id="280" name="Google Shape;280;p29"/>
          <p:cNvGrpSpPr/>
          <p:nvPr/>
        </p:nvGrpSpPr>
        <p:grpSpPr>
          <a:xfrm>
            <a:off x="439701" y="5692692"/>
            <a:ext cx="1962645" cy="686736"/>
            <a:chOff x="8258071" y="4202541"/>
            <a:chExt cx="1363800" cy="477198"/>
          </a:xfrm>
        </p:grpSpPr>
        <p:sp>
          <p:nvSpPr>
            <p:cNvPr id="281" name="Google Shape;281;p29"/>
            <p:cNvSpPr/>
            <p:nvPr/>
          </p:nvSpPr>
          <p:spPr>
            <a:xfrm>
              <a:off x="8275639" y="4202541"/>
              <a:ext cx="1328670" cy="477198"/>
            </a:xfrm>
            <a:prstGeom prst="flowChartTerminator">
              <a:avLst/>
            </a:prstGeom>
            <a:solidFill>
              <a:srgbClr val="FFFD78">
                <a:alpha val="62750"/>
              </a:srgbClr>
            </a:solidFill>
            <a:ln>
              <a:noFill/>
            </a:ln>
          </p:spPr>
          <p:txBody>
            <a:bodyPr spcFirstLastPara="1" wrap="square" lIns="131575" tIns="65775" rIns="131575" bIns="657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59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9"/>
            <p:cNvSpPr txBox="1"/>
            <p:nvPr/>
          </p:nvSpPr>
          <p:spPr>
            <a:xfrm>
              <a:off x="8258071" y="4311449"/>
              <a:ext cx="13638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1575" tIns="65775" rIns="131575" bIns="6577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8" b="1">
                  <a:solidFill>
                    <a:schemeClr val="dk1"/>
                  </a:solidFill>
                </a:rPr>
                <a:t>SOLID</a:t>
              </a:r>
              <a:endParaRPr sz="2014" b="1"/>
            </a:p>
          </p:txBody>
        </p:sp>
      </p:grpSp>
      <p:sp>
        <p:nvSpPr>
          <p:cNvPr id="283" name="Google Shape;283;p29"/>
          <p:cNvSpPr txBox="1">
            <a:spLocks noGrp="1"/>
          </p:cNvSpPr>
          <p:nvPr>
            <p:ph type="body" idx="1"/>
          </p:nvPr>
        </p:nvSpPr>
        <p:spPr>
          <a:xfrm>
            <a:off x="2572000" y="5631969"/>
            <a:ext cx="8639100" cy="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/>
              <a:t>Single responsibility: </a:t>
            </a:r>
            <a:r>
              <a:rPr lang="en-US" sz="1800"/>
              <a:t>each class should have a single purpose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/>
              <a:t>Open/Close: </a:t>
            </a:r>
            <a:r>
              <a:rPr lang="en-US" sz="1800"/>
              <a:t>New rules or user roles can be added by extending components without modifying existing logic.</a:t>
            </a:r>
            <a:endParaRPr sz="1800"/>
          </a:p>
        </p:txBody>
      </p:sp>
      <p:grpSp>
        <p:nvGrpSpPr>
          <p:cNvPr id="284" name="Google Shape;284;p29"/>
          <p:cNvGrpSpPr/>
          <p:nvPr/>
        </p:nvGrpSpPr>
        <p:grpSpPr>
          <a:xfrm>
            <a:off x="497926" y="3656161"/>
            <a:ext cx="1962645" cy="686736"/>
            <a:chOff x="8363971" y="4479502"/>
            <a:chExt cx="1363800" cy="477198"/>
          </a:xfrm>
        </p:grpSpPr>
        <p:sp>
          <p:nvSpPr>
            <p:cNvPr id="285" name="Google Shape;285;p29"/>
            <p:cNvSpPr/>
            <p:nvPr/>
          </p:nvSpPr>
          <p:spPr>
            <a:xfrm>
              <a:off x="8381538" y="4479502"/>
              <a:ext cx="1328670" cy="477198"/>
            </a:xfrm>
            <a:prstGeom prst="flowChartTerminator">
              <a:avLst/>
            </a:prstGeom>
            <a:solidFill>
              <a:srgbClr val="FFFD78">
                <a:alpha val="62750"/>
              </a:srgbClr>
            </a:solidFill>
            <a:ln>
              <a:noFill/>
            </a:ln>
          </p:spPr>
          <p:txBody>
            <a:bodyPr spcFirstLastPara="1" wrap="square" lIns="131575" tIns="65775" rIns="131575" bIns="657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59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9"/>
            <p:cNvSpPr txBox="1"/>
            <p:nvPr/>
          </p:nvSpPr>
          <p:spPr>
            <a:xfrm>
              <a:off x="8363971" y="4546170"/>
              <a:ext cx="13638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1575" tIns="65775" rIns="131575" bIns="6577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8" b="1">
                  <a:solidFill>
                    <a:schemeClr val="dk1"/>
                  </a:solidFill>
                </a:rPr>
                <a:t>Abstraction</a:t>
              </a:r>
              <a:endParaRPr sz="2014" b="1"/>
            </a:p>
          </p:txBody>
        </p:sp>
      </p:grpSp>
      <p:sp>
        <p:nvSpPr>
          <p:cNvPr id="287" name="Google Shape;287;p29"/>
          <p:cNvSpPr txBox="1">
            <a:spLocks noGrp="1"/>
          </p:cNvSpPr>
          <p:nvPr>
            <p:ph type="body" idx="1"/>
          </p:nvPr>
        </p:nvSpPr>
        <p:spPr>
          <a:xfrm>
            <a:off x="2516050" y="3772972"/>
            <a:ext cx="9417000" cy="6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/>
              <a:t>We define interfaces to specify behaviors while hiding the underlying implementation details.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30" title="Screenshot 2025-12-11 at 13.55.23.png"/>
          <p:cNvPicPr preferRelativeResize="0"/>
          <p:nvPr/>
        </p:nvPicPr>
        <p:blipFill rotWithShape="1">
          <a:blip r:embed="rId3">
            <a:alphaModFix/>
          </a:blip>
          <a:srcRect t="9181"/>
          <a:stretch/>
        </p:blipFill>
        <p:spPr>
          <a:xfrm>
            <a:off x="2855950" y="1525850"/>
            <a:ext cx="4185052" cy="260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0" title="Screenshot 2025-12-11 at 13.56.3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5950" y="4390135"/>
            <a:ext cx="8546850" cy="85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0" title="Screenshot 2025-12-11 at 13.57.3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55950" y="5544494"/>
            <a:ext cx="2443326" cy="1190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6" name="Google Shape;296;p30"/>
          <p:cNvGrpSpPr/>
          <p:nvPr/>
        </p:nvGrpSpPr>
        <p:grpSpPr>
          <a:xfrm>
            <a:off x="439701" y="5544499"/>
            <a:ext cx="1962645" cy="686736"/>
            <a:chOff x="7272577" y="3300997"/>
            <a:chExt cx="1363800" cy="477198"/>
          </a:xfrm>
        </p:grpSpPr>
        <p:sp>
          <p:nvSpPr>
            <p:cNvPr id="297" name="Google Shape;297;p30"/>
            <p:cNvSpPr/>
            <p:nvPr/>
          </p:nvSpPr>
          <p:spPr>
            <a:xfrm>
              <a:off x="7290144" y="3300997"/>
              <a:ext cx="1328670" cy="477198"/>
            </a:xfrm>
            <a:prstGeom prst="flowChartTerminator">
              <a:avLst/>
            </a:prstGeom>
            <a:solidFill>
              <a:srgbClr val="FFFD78">
                <a:alpha val="62750"/>
              </a:srgbClr>
            </a:solidFill>
            <a:ln>
              <a:noFill/>
            </a:ln>
          </p:spPr>
          <p:txBody>
            <a:bodyPr spcFirstLastPara="1" wrap="square" lIns="131575" tIns="65775" rIns="131575" bIns="657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59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30"/>
            <p:cNvSpPr txBox="1"/>
            <p:nvPr/>
          </p:nvSpPr>
          <p:spPr>
            <a:xfrm>
              <a:off x="7272577" y="3396031"/>
              <a:ext cx="13638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1575" tIns="65775" rIns="131575" bIns="6577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8" b="1">
                  <a:solidFill>
                    <a:schemeClr val="dk1"/>
                  </a:solidFill>
                </a:rPr>
                <a:t>Abstraction</a:t>
              </a:r>
              <a:endParaRPr sz="2014" b="1"/>
            </a:p>
          </p:txBody>
        </p:sp>
      </p:grpSp>
      <p:grpSp>
        <p:nvGrpSpPr>
          <p:cNvPr id="299" name="Google Shape;299;p30"/>
          <p:cNvGrpSpPr/>
          <p:nvPr/>
        </p:nvGrpSpPr>
        <p:grpSpPr>
          <a:xfrm>
            <a:off x="439701" y="1525857"/>
            <a:ext cx="1962645" cy="686736"/>
            <a:chOff x="3105024" y="3685482"/>
            <a:chExt cx="1363800" cy="477198"/>
          </a:xfrm>
        </p:grpSpPr>
        <p:sp>
          <p:nvSpPr>
            <p:cNvPr id="300" name="Google Shape;300;p30"/>
            <p:cNvSpPr/>
            <p:nvPr/>
          </p:nvSpPr>
          <p:spPr>
            <a:xfrm>
              <a:off x="3130982" y="3685482"/>
              <a:ext cx="1328670" cy="477198"/>
            </a:xfrm>
            <a:prstGeom prst="flowChartTerminator">
              <a:avLst/>
            </a:prstGeom>
            <a:solidFill>
              <a:srgbClr val="FFFD78">
                <a:alpha val="62750"/>
              </a:srgbClr>
            </a:solidFill>
            <a:ln>
              <a:noFill/>
            </a:ln>
          </p:spPr>
          <p:txBody>
            <a:bodyPr spcFirstLastPara="1" wrap="square" lIns="131575" tIns="65775" rIns="131575" bIns="657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59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30"/>
            <p:cNvSpPr txBox="1"/>
            <p:nvPr/>
          </p:nvSpPr>
          <p:spPr>
            <a:xfrm>
              <a:off x="3105024" y="3781725"/>
              <a:ext cx="13638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1575" tIns="65775" rIns="131575" bIns="6577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8" b="1">
                  <a:solidFill>
                    <a:schemeClr val="dk1"/>
                  </a:solidFill>
                </a:rPr>
                <a:t>Encapsulation</a:t>
              </a:r>
              <a:endParaRPr sz="2014" b="1"/>
            </a:p>
          </p:txBody>
        </p:sp>
      </p:grpSp>
      <p:grpSp>
        <p:nvGrpSpPr>
          <p:cNvPr id="302" name="Google Shape;302;p30"/>
          <p:cNvGrpSpPr/>
          <p:nvPr/>
        </p:nvGrpSpPr>
        <p:grpSpPr>
          <a:xfrm>
            <a:off x="439701" y="4390134"/>
            <a:ext cx="1962645" cy="686736"/>
            <a:chOff x="2887875" y="4734740"/>
            <a:chExt cx="1363800" cy="477198"/>
          </a:xfrm>
        </p:grpSpPr>
        <p:sp>
          <p:nvSpPr>
            <p:cNvPr id="303" name="Google Shape;303;p30"/>
            <p:cNvSpPr/>
            <p:nvPr/>
          </p:nvSpPr>
          <p:spPr>
            <a:xfrm>
              <a:off x="2905442" y="4734740"/>
              <a:ext cx="1328670" cy="477198"/>
            </a:xfrm>
            <a:prstGeom prst="flowChartTerminator">
              <a:avLst/>
            </a:prstGeom>
            <a:solidFill>
              <a:srgbClr val="FFFD78">
                <a:alpha val="62750"/>
              </a:srgbClr>
            </a:solidFill>
            <a:ln>
              <a:noFill/>
            </a:ln>
          </p:spPr>
          <p:txBody>
            <a:bodyPr spcFirstLastPara="1" wrap="square" lIns="131575" tIns="65775" rIns="131575" bIns="657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59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30"/>
            <p:cNvSpPr txBox="1"/>
            <p:nvPr/>
          </p:nvSpPr>
          <p:spPr>
            <a:xfrm>
              <a:off x="2887875" y="4842229"/>
              <a:ext cx="13638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1575" tIns="65775" rIns="131575" bIns="6577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8" b="1">
                  <a:solidFill>
                    <a:schemeClr val="dk1"/>
                  </a:solidFill>
                </a:rPr>
                <a:t>Inheritance</a:t>
              </a:r>
              <a:endParaRPr sz="2014" b="1"/>
            </a:p>
          </p:txBody>
        </p:sp>
      </p:grpSp>
      <p:sp>
        <p:nvSpPr>
          <p:cNvPr id="305" name="Google Shape;305;p30"/>
          <p:cNvSpPr txBox="1"/>
          <p:nvPr/>
        </p:nvSpPr>
        <p:spPr>
          <a:xfrm>
            <a:off x="439700" y="425284"/>
            <a:ext cx="10515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875"/>
              </a:lnSpc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4A90E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Key OOD Concepts Examples</a:t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4A90E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Entity UML Diagram </a:t>
            </a:r>
            <a:endParaRPr sz="4800">
              <a:solidFill>
                <a:srgbClr val="4A90E2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pic>
        <p:nvPicPr>
          <p:cNvPr id="312" name="Google Shape;312;p31" title="Screenshot 2025-12-11 at 14.06.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6751" y="1738633"/>
            <a:ext cx="10418499" cy="4888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2"/>
          <p:cNvSpPr txBox="1"/>
          <p:nvPr/>
        </p:nvSpPr>
        <p:spPr>
          <a:xfrm>
            <a:off x="439700" y="425284"/>
            <a:ext cx="10515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875"/>
              </a:lnSpc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4A90E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Lessons Learned</a:t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319" name="Google Shape;319;p32"/>
          <p:cNvSpPr/>
          <p:nvPr/>
        </p:nvSpPr>
        <p:spPr>
          <a:xfrm>
            <a:off x="11621465" y="158043"/>
            <a:ext cx="395100" cy="395100"/>
          </a:xfrm>
          <a:prstGeom prst="ellipse">
            <a:avLst/>
          </a:prstGeom>
          <a:solidFill>
            <a:srgbClr val="FF8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0" name="Google Shape;320;p32"/>
          <p:cNvSpPr txBox="1">
            <a:spLocks noGrp="1"/>
          </p:cNvSpPr>
          <p:nvPr>
            <p:ph type="body" idx="1"/>
          </p:nvPr>
        </p:nvSpPr>
        <p:spPr>
          <a:xfrm>
            <a:off x="838200" y="1825624"/>
            <a:ext cx="10515600" cy="47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b="1"/>
              <a:t>Architecture </a:t>
            </a:r>
            <a:r>
              <a:rPr lang="en-US"/>
              <a:t>– Controller, Service, Repository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b="1"/>
              <a:t>Single responsibility </a:t>
            </a:r>
            <a:r>
              <a:rPr lang="en-US"/>
              <a:t>- Entity separation</a:t>
            </a:r>
            <a:endParaRPr/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2400"/>
              <a:t>Users</a:t>
            </a:r>
            <a:endParaRPr sz="2400"/>
          </a:p>
          <a:p>
            <a:pPr marL="137160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000"/>
              <a:t>patient_profile, doctor_profile, admin_profile</a:t>
            </a:r>
            <a:endParaRPr sz="2000"/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2400"/>
              <a:t>Appointments</a:t>
            </a:r>
            <a:endParaRPr sz="240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b="1"/>
              <a:t>Dependency Inversion Principle</a:t>
            </a:r>
            <a:endParaRPr b="1"/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Service implementation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/>
          <p:cNvSpPr txBox="1">
            <a:spLocks noGrp="1"/>
          </p:cNvSpPr>
          <p:nvPr>
            <p:ph type="body" idx="1"/>
          </p:nvPr>
        </p:nvSpPr>
        <p:spPr>
          <a:xfrm>
            <a:off x="838200" y="1825624"/>
            <a:ext cx="10515600" cy="4788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b="1"/>
              <a:t>Integrate AI agent</a:t>
            </a:r>
            <a:r>
              <a:rPr lang="en-US"/>
              <a:t> for symptom pre-screening, chatbot support, and initial triage recommendations.</a:t>
            </a:r>
            <a:endParaRPr/>
          </a:p>
          <a:p>
            <a:pPr marL="228600" lvl="0" indent="-241934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b="1"/>
              <a:t>Add Redis caching</a:t>
            </a:r>
            <a:r>
              <a:rPr lang="en-US"/>
              <a:t> to speed up frequent queries such as doctor availability and appointment history.</a:t>
            </a:r>
            <a:endParaRPr/>
          </a:p>
          <a:p>
            <a:pPr marL="228600" lvl="0" indent="-241934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b="1"/>
              <a:t>Support third-party authentication</a:t>
            </a:r>
            <a:r>
              <a:rPr lang="en-US"/>
              <a:t> (OAuth 2.0 / token-based login) for more secure and scalable user access.</a:t>
            </a:r>
            <a:endParaRPr/>
          </a:p>
        </p:txBody>
      </p:sp>
      <p:sp>
        <p:nvSpPr>
          <p:cNvPr id="326" name="Google Shape;326;p33"/>
          <p:cNvSpPr txBox="1"/>
          <p:nvPr/>
        </p:nvSpPr>
        <p:spPr>
          <a:xfrm>
            <a:off x="439700" y="425284"/>
            <a:ext cx="10515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875"/>
              </a:lnSpc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4A90E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Goals in the future</a:t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327" name="Google Shape;327;p33"/>
          <p:cNvSpPr/>
          <p:nvPr/>
        </p:nvSpPr>
        <p:spPr>
          <a:xfrm>
            <a:off x="11621465" y="158043"/>
            <a:ext cx="395100" cy="395100"/>
          </a:xfrm>
          <a:prstGeom prst="ellipse">
            <a:avLst/>
          </a:prstGeom>
          <a:solidFill>
            <a:srgbClr val="9491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4"/>
          <p:cNvSpPr txBox="1">
            <a:spLocks noGrp="1"/>
          </p:cNvSpPr>
          <p:nvPr>
            <p:ph type="body" idx="1"/>
          </p:nvPr>
        </p:nvSpPr>
        <p:spPr>
          <a:xfrm>
            <a:off x="838200" y="1825624"/>
            <a:ext cx="10515600" cy="47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https://spring.io/projects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>
                <a:uFill>
                  <a:noFill/>
                </a:uFill>
                <a:hlinkClick r:id="rId3"/>
              </a:rPr>
              <a:t>https://swagger.io/tools/swagger-ui/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>
                <a:uFill>
                  <a:noFill/>
                </a:uFill>
                <a:hlinkClick r:id="rId4"/>
              </a:rPr>
              <a:t>https://docs.docker.com/guides/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>
                <a:uFill>
                  <a:noFill/>
                </a:uFill>
                <a:hlinkClick r:id="rId5"/>
              </a:rPr>
              <a:t>https://wiki.postgresql.org/wiki/Developer_FAQ#How_do_I_get_involved_in_PostgreSQL_development.3F</a:t>
            </a:r>
            <a:endParaRPr/>
          </a:p>
        </p:txBody>
      </p:sp>
      <p:sp>
        <p:nvSpPr>
          <p:cNvPr id="333" name="Google Shape;333;p34"/>
          <p:cNvSpPr txBox="1"/>
          <p:nvPr/>
        </p:nvSpPr>
        <p:spPr>
          <a:xfrm>
            <a:off x="439700" y="425284"/>
            <a:ext cx="10515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875"/>
              </a:lnSpc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4A90E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Citations</a:t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334" name="Google Shape;334;p34"/>
          <p:cNvSpPr/>
          <p:nvPr/>
        </p:nvSpPr>
        <p:spPr>
          <a:xfrm>
            <a:off x="11621465" y="158043"/>
            <a:ext cx="395100" cy="395100"/>
          </a:xfrm>
          <a:prstGeom prst="ellipse">
            <a:avLst/>
          </a:prstGeom>
          <a:solidFill>
            <a:srgbClr val="9491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A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Google Shape;340;p35"/>
          <p:cNvGrpSpPr/>
          <p:nvPr/>
        </p:nvGrpSpPr>
        <p:grpSpPr>
          <a:xfrm>
            <a:off x="-1219782" y="531210"/>
            <a:ext cx="14838079" cy="5752260"/>
            <a:chOff x="0" y="23639"/>
            <a:chExt cx="29676158" cy="11504520"/>
          </a:xfrm>
        </p:grpSpPr>
        <p:cxnSp>
          <p:nvCxnSpPr>
            <p:cNvPr id="341" name="Google Shape;341;p35"/>
            <p:cNvCxnSpPr/>
            <p:nvPr/>
          </p:nvCxnSpPr>
          <p:spPr>
            <a:xfrm>
              <a:off x="0" y="23639"/>
              <a:ext cx="29472728" cy="0"/>
            </a:xfrm>
            <a:prstGeom prst="straightConnector1">
              <a:avLst/>
            </a:prstGeom>
            <a:noFill/>
            <a:ln w="47275" cap="flat" cmpd="sng">
              <a:solidFill>
                <a:srgbClr val="BEF1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2" name="Google Shape;342;p35"/>
            <p:cNvCxnSpPr/>
            <p:nvPr/>
          </p:nvCxnSpPr>
          <p:spPr>
            <a:xfrm>
              <a:off x="0" y="1081393"/>
              <a:ext cx="29472728" cy="0"/>
            </a:xfrm>
            <a:prstGeom prst="straightConnector1">
              <a:avLst/>
            </a:prstGeom>
            <a:noFill/>
            <a:ln w="47275" cap="flat" cmpd="sng">
              <a:solidFill>
                <a:srgbClr val="BEF1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3" name="Google Shape;343;p35"/>
            <p:cNvCxnSpPr/>
            <p:nvPr/>
          </p:nvCxnSpPr>
          <p:spPr>
            <a:xfrm>
              <a:off x="0" y="2139147"/>
              <a:ext cx="29472728" cy="0"/>
            </a:xfrm>
            <a:prstGeom prst="straightConnector1">
              <a:avLst/>
            </a:prstGeom>
            <a:noFill/>
            <a:ln w="47275" cap="flat" cmpd="sng">
              <a:solidFill>
                <a:srgbClr val="BEF1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4" name="Google Shape;344;p35"/>
            <p:cNvCxnSpPr/>
            <p:nvPr/>
          </p:nvCxnSpPr>
          <p:spPr>
            <a:xfrm>
              <a:off x="0" y="3196900"/>
              <a:ext cx="29472728" cy="0"/>
            </a:xfrm>
            <a:prstGeom prst="straightConnector1">
              <a:avLst/>
            </a:prstGeom>
            <a:noFill/>
            <a:ln w="47275" cap="flat" cmpd="sng">
              <a:solidFill>
                <a:srgbClr val="BEF1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5" name="Google Shape;345;p35"/>
            <p:cNvCxnSpPr/>
            <p:nvPr/>
          </p:nvCxnSpPr>
          <p:spPr>
            <a:xfrm>
              <a:off x="0" y="4254654"/>
              <a:ext cx="29472728" cy="0"/>
            </a:xfrm>
            <a:prstGeom prst="straightConnector1">
              <a:avLst/>
            </a:prstGeom>
            <a:noFill/>
            <a:ln w="47275" cap="flat" cmpd="sng">
              <a:solidFill>
                <a:srgbClr val="BEF1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6" name="Google Shape;346;p35"/>
            <p:cNvCxnSpPr/>
            <p:nvPr/>
          </p:nvCxnSpPr>
          <p:spPr>
            <a:xfrm>
              <a:off x="0" y="5312408"/>
              <a:ext cx="29472728" cy="0"/>
            </a:xfrm>
            <a:prstGeom prst="straightConnector1">
              <a:avLst/>
            </a:prstGeom>
            <a:noFill/>
            <a:ln w="47275" cap="flat" cmpd="sng">
              <a:solidFill>
                <a:srgbClr val="BEF1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7" name="Google Shape;347;p35"/>
            <p:cNvCxnSpPr/>
            <p:nvPr/>
          </p:nvCxnSpPr>
          <p:spPr>
            <a:xfrm>
              <a:off x="203430" y="6239390"/>
              <a:ext cx="29472728" cy="0"/>
            </a:xfrm>
            <a:prstGeom prst="straightConnector1">
              <a:avLst/>
            </a:prstGeom>
            <a:noFill/>
            <a:ln w="47275" cap="flat" cmpd="sng">
              <a:solidFill>
                <a:srgbClr val="BEF1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8" name="Google Shape;348;p35"/>
            <p:cNvCxnSpPr/>
            <p:nvPr/>
          </p:nvCxnSpPr>
          <p:spPr>
            <a:xfrm>
              <a:off x="203430" y="7297144"/>
              <a:ext cx="29472728" cy="0"/>
            </a:xfrm>
            <a:prstGeom prst="straightConnector1">
              <a:avLst/>
            </a:prstGeom>
            <a:noFill/>
            <a:ln w="47275" cap="flat" cmpd="sng">
              <a:solidFill>
                <a:srgbClr val="BEF1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9" name="Google Shape;349;p35"/>
            <p:cNvCxnSpPr/>
            <p:nvPr/>
          </p:nvCxnSpPr>
          <p:spPr>
            <a:xfrm>
              <a:off x="203430" y="8354898"/>
              <a:ext cx="29472728" cy="0"/>
            </a:xfrm>
            <a:prstGeom prst="straightConnector1">
              <a:avLst/>
            </a:prstGeom>
            <a:noFill/>
            <a:ln w="47275" cap="flat" cmpd="sng">
              <a:solidFill>
                <a:srgbClr val="BEF1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0" name="Google Shape;350;p35"/>
            <p:cNvCxnSpPr/>
            <p:nvPr/>
          </p:nvCxnSpPr>
          <p:spPr>
            <a:xfrm>
              <a:off x="203430" y="9412652"/>
              <a:ext cx="29472728" cy="0"/>
            </a:xfrm>
            <a:prstGeom prst="straightConnector1">
              <a:avLst/>
            </a:prstGeom>
            <a:noFill/>
            <a:ln w="47275" cap="flat" cmpd="sng">
              <a:solidFill>
                <a:srgbClr val="BEF1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1" name="Google Shape;351;p35"/>
            <p:cNvCxnSpPr/>
            <p:nvPr/>
          </p:nvCxnSpPr>
          <p:spPr>
            <a:xfrm>
              <a:off x="203430" y="10470405"/>
              <a:ext cx="29472728" cy="0"/>
            </a:xfrm>
            <a:prstGeom prst="straightConnector1">
              <a:avLst/>
            </a:prstGeom>
            <a:noFill/>
            <a:ln w="47275" cap="flat" cmpd="sng">
              <a:solidFill>
                <a:srgbClr val="BEF1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2" name="Google Shape;352;p35"/>
            <p:cNvCxnSpPr/>
            <p:nvPr/>
          </p:nvCxnSpPr>
          <p:spPr>
            <a:xfrm>
              <a:off x="203430" y="11528159"/>
              <a:ext cx="29472728" cy="0"/>
            </a:xfrm>
            <a:prstGeom prst="straightConnector1">
              <a:avLst/>
            </a:prstGeom>
            <a:noFill/>
            <a:ln w="47275" cap="flat" cmpd="sng">
              <a:solidFill>
                <a:srgbClr val="BEF1F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53" name="Google Shape;353;p35"/>
          <p:cNvGrpSpPr/>
          <p:nvPr/>
        </p:nvGrpSpPr>
        <p:grpSpPr>
          <a:xfrm rot="-1283833">
            <a:off x="8317732" y="1179590"/>
            <a:ext cx="2682788" cy="912947"/>
            <a:chOff x="0" y="0"/>
            <a:chExt cx="5365576" cy="1825893"/>
          </a:xfrm>
        </p:grpSpPr>
        <p:sp>
          <p:nvSpPr>
            <p:cNvPr id="354" name="Google Shape;354;p35"/>
            <p:cNvSpPr/>
            <p:nvPr/>
          </p:nvSpPr>
          <p:spPr>
            <a:xfrm>
              <a:off x="3413916" y="0"/>
              <a:ext cx="1951660" cy="1657137"/>
            </a:xfrm>
            <a:custGeom>
              <a:avLst/>
              <a:gdLst/>
              <a:ahLst/>
              <a:cxnLst/>
              <a:rect l="l" t="t" r="r" b="b"/>
              <a:pathLst>
                <a:path w="1951660" h="1657137" extrusionOk="0">
                  <a:moveTo>
                    <a:pt x="0" y="0"/>
                  </a:moveTo>
                  <a:lnTo>
                    <a:pt x="1951661" y="0"/>
                  </a:lnTo>
                  <a:lnTo>
                    <a:pt x="1951661" y="1657137"/>
                  </a:lnTo>
                  <a:lnTo>
                    <a:pt x="0" y="16571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35"/>
            <p:cNvSpPr/>
            <p:nvPr/>
          </p:nvSpPr>
          <p:spPr>
            <a:xfrm>
              <a:off x="1706958" y="128550"/>
              <a:ext cx="1512089" cy="1568792"/>
            </a:xfrm>
            <a:custGeom>
              <a:avLst/>
              <a:gdLst/>
              <a:ahLst/>
              <a:cxnLst/>
              <a:rect l="l" t="t" r="r" b="b"/>
              <a:pathLst>
                <a:path w="1512089" h="1568792" extrusionOk="0">
                  <a:moveTo>
                    <a:pt x="0" y="0"/>
                  </a:moveTo>
                  <a:lnTo>
                    <a:pt x="1512089" y="0"/>
                  </a:lnTo>
                  <a:lnTo>
                    <a:pt x="1512089" y="1568792"/>
                  </a:lnTo>
                  <a:lnTo>
                    <a:pt x="0" y="1568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r="-29067" b="-5630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35"/>
            <p:cNvSpPr/>
            <p:nvPr/>
          </p:nvSpPr>
          <p:spPr>
            <a:xfrm>
              <a:off x="0" y="257101"/>
              <a:ext cx="1512089" cy="1568792"/>
            </a:xfrm>
            <a:custGeom>
              <a:avLst/>
              <a:gdLst/>
              <a:ahLst/>
              <a:cxnLst/>
              <a:rect l="l" t="t" r="r" b="b"/>
              <a:pathLst>
                <a:path w="1512089" h="1568792" extrusionOk="0">
                  <a:moveTo>
                    <a:pt x="0" y="0"/>
                  </a:moveTo>
                  <a:lnTo>
                    <a:pt x="1512089" y="0"/>
                  </a:lnTo>
                  <a:lnTo>
                    <a:pt x="1512089" y="1568791"/>
                  </a:lnTo>
                  <a:lnTo>
                    <a:pt x="0" y="15687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r="-29067" b="-5630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7" name="Google Shape;357;p35"/>
          <p:cNvSpPr/>
          <p:nvPr/>
        </p:nvSpPr>
        <p:spPr>
          <a:xfrm>
            <a:off x="8340141" y="1462864"/>
            <a:ext cx="4778475" cy="6396173"/>
          </a:xfrm>
          <a:custGeom>
            <a:avLst/>
            <a:gdLst/>
            <a:ahLst/>
            <a:cxnLst/>
            <a:rect l="l" t="t" r="r" b="b"/>
            <a:pathLst>
              <a:path w="7167712" h="9594260" extrusionOk="0">
                <a:moveTo>
                  <a:pt x="0" y="0"/>
                </a:moveTo>
                <a:lnTo>
                  <a:pt x="7167712" y="0"/>
                </a:lnTo>
                <a:lnTo>
                  <a:pt x="7167712" y="9594261"/>
                </a:lnTo>
                <a:lnTo>
                  <a:pt x="0" y="95942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5"/>
          <p:cNvSpPr txBox="1"/>
          <p:nvPr/>
        </p:nvSpPr>
        <p:spPr>
          <a:xfrm>
            <a:off x="860816" y="1688490"/>
            <a:ext cx="7414500" cy="28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05093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Thank you 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16006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200">
              <a:solidFill>
                <a:srgbClr val="05093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59" name="Google Shape;359;p35"/>
          <p:cNvSpPr/>
          <p:nvPr/>
        </p:nvSpPr>
        <p:spPr>
          <a:xfrm rot="-703769">
            <a:off x="-1715940" y="42169"/>
            <a:ext cx="7620583" cy="1483872"/>
          </a:xfrm>
          <a:custGeom>
            <a:avLst/>
            <a:gdLst/>
            <a:ahLst/>
            <a:cxnLst/>
            <a:rect l="l" t="t" r="r" b="b"/>
            <a:pathLst>
              <a:path w="11430875" h="2225808" extrusionOk="0">
                <a:moveTo>
                  <a:pt x="0" y="0"/>
                </a:moveTo>
                <a:lnTo>
                  <a:pt x="11430875" y="0"/>
                </a:lnTo>
                <a:lnTo>
                  <a:pt x="11430875" y="2225808"/>
                </a:lnTo>
                <a:lnTo>
                  <a:pt x="0" y="22258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r="-2902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5"/>
          <p:cNvSpPr/>
          <p:nvPr/>
        </p:nvSpPr>
        <p:spPr>
          <a:xfrm rot="555235">
            <a:off x="7755686" y="5179731"/>
            <a:ext cx="784400" cy="935487"/>
          </a:xfrm>
          <a:custGeom>
            <a:avLst/>
            <a:gdLst/>
            <a:ahLst/>
            <a:cxnLst/>
            <a:rect l="l" t="t" r="r" b="b"/>
            <a:pathLst>
              <a:path w="1176600" h="1403231" extrusionOk="0">
                <a:moveTo>
                  <a:pt x="0" y="0"/>
                </a:moveTo>
                <a:lnTo>
                  <a:pt x="1176600" y="0"/>
                </a:lnTo>
                <a:lnTo>
                  <a:pt x="1176600" y="1403231"/>
                </a:lnTo>
                <a:lnTo>
                  <a:pt x="0" y="14032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145718" t="-4234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5"/>
          <p:cNvSpPr/>
          <p:nvPr/>
        </p:nvSpPr>
        <p:spPr>
          <a:xfrm rot="555235">
            <a:off x="8058901" y="732918"/>
            <a:ext cx="648610" cy="773543"/>
          </a:xfrm>
          <a:custGeom>
            <a:avLst/>
            <a:gdLst/>
            <a:ahLst/>
            <a:cxnLst/>
            <a:rect l="l" t="t" r="r" b="b"/>
            <a:pathLst>
              <a:path w="972915" h="1160314" extrusionOk="0">
                <a:moveTo>
                  <a:pt x="0" y="0"/>
                </a:moveTo>
                <a:lnTo>
                  <a:pt x="972916" y="0"/>
                </a:lnTo>
                <a:lnTo>
                  <a:pt x="972916" y="1160314"/>
                </a:lnTo>
                <a:lnTo>
                  <a:pt x="0" y="1160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145718" t="-4234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5"/>
          <p:cNvSpPr txBox="1"/>
          <p:nvPr/>
        </p:nvSpPr>
        <p:spPr>
          <a:xfrm>
            <a:off x="860816" y="3506543"/>
            <a:ext cx="77235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050930"/>
                </a:solidFill>
                <a:latin typeface="Comic Sans MS"/>
                <a:ea typeface="Comic Sans MS"/>
                <a:cs typeface="Comic Sans MS"/>
                <a:sym typeface="Comic Sans MS"/>
              </a:rPr>
              <a:t>Merry 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050930"/>
                </a:solidFill>
                <a:latin typeface="Comic Sans MS"/>
                <a:ea typeface="Comic Sans MS"/>
                <a:cs typeface="Comic Sans MS"/>
                <a:sym typeface="Comic Sans MS"/>
              </a:rPr>
              <a:t>		Christmas!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63" name="Google Shape;363;p35"/>
          <p:cNvSpPr/>
          <p:nvPr/>
        </p:nvSpPr>
        <p:spPr>
          <a:xfrm>
            <a:off x="1154847" y="5802259"/>
            <a:ext cx="6565796" cy="183254"/>
          </a:xfrm>
          <a:custGeom>
            <a:avLst/>
            <a:gdLst/>
            <a:ahLst/>
            <a:cxnLst/>
            <a:rect l="l" t="t" r="r" b="b"/>
            <a:pathLst>
              <a:path w="9618258" h="268450" extrusionOk="0">
                <a:moveTo>
                  <a:pt x="126058" y="30402"/>
                </a:moveTo>
                <a:cubicBezTo>
                  <a:pt x="1161530" y="51444"/>
                  <a:pt x="1336382" y="52863"/>
                  <a:pt x="1607961" y="54754"/>
                </a:cubicBezTo>
                <a:cubicBezTo>
                  <a:pt x="2010990" y="57355"/>
                  <a:pt x="2550427" y="58064"/>
                  <a:pt x="3109706" y="59010"/>
                </a:cubicBezTo>
                <a:cubicBezTo>
                  <a:pt x="3819035" y="60192"/>
                  <a:pt x="4666014" y="61138"/>
                  <a:pt x="5524154" y="59956"/>
                </a:cubicBezTo>
                <a:cubicBezTo>
                  <a:pt x="6502582" y="58773"/>
                  <a:pt x="7967124" y="59719"/>
                  <a:pt x="8664052" y="50498"/>
                </a:cubicBezTo>
                <a:cubicBezTo>
                  <a:pt x="9013757" y="45770"/>
                  <a:pt x="9298977" y="-47635"/>
                  <a:pt x="9449027" y="32057"/>
                </a:cubicBezTo>
                <a:cubicBezTo>
                  <a:pt x="9626555" y="59956"/>
                  <a:pt x="9688785" y="201575"/>
                  <a:pt x="9515992" y="239640"/>
                </a:cubicBezTo>
                <a:cubicBezTo>
                  <a:pt x="9346100" y="278739"/>
                  <a:pt x="8879828" y="255481"/>
                  <a:pt x="8429677" y="260446"/>
                </a:cubicBezTo>
                <a:cubicBezTo>
                  <a:pt x="7695545" y="268484"/>
                  <a:pt x="6448018" y="267066"/>
                  <a:pt x="5522914" y="268012"/>
                </a:cubicBezTo>
                <a:cubicBezTo>
                  <a:pt x="4678416" y="268957"/>
                  <a:pt x="3819035" y="268248"/>
                  <a:pt x="3101025" y="267066"/>
                </a:cubicBezTo>
                <a:cubicBezTo>
                  <a:pt x="2525625" y="266120"/>
                  <a:pt x="1972547" y="265174"/>
                  <a:pt x="1548437" y="262337"/>
                </a:cubicBezTo>
                <a:cubicBezTo>
                  <a:pt x="1254537" y="260446"/>
                  <a:pt x="1053643" y="258554"/>
                  <a:pt x="800665" y="254535"/>
                </a:cubicBezTo>
                <a:cubicBezTo>
                  <a:pt x="539007" y="250280"/>
                  <a:pt x="33052" y="232311"/>
                  <a:pt x="2050" y="237040"/>
                </a:cubicBezTo>
                <a:cubicBezTo>
                  <a:pt x="-1671" y="237512"/>
                  <a:pt x="809" y="239167"/>
                  <a:pt x="809" y="239167"/>
                </a:cubicBezTo>
                <a:cubicBezTo>
                  <a:pt x="809" y="239167"/>
                  <a:pt x="126058" y="30402"/>
                  <a:pt x="126058" y="30402"/>
                </a:cubicBezTo>
              </a:path>
            </a:pathLst>
          </a:custGeom>
          <a:solidFill>
            <a:srgbClr val="F8C25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5"/>
          <p:cNvSpPr txBox="1"/>
          <p:nvPr/>
        </p:nvSpPr>
        <p:spPr>
          <a:xfrm>
            <a:off x="4687618" y="3040996"/>
            <a:ext cx="37837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50930"/>
                </a:solidFill>
                <a:latin typeface="Comic Sans MS"/>
                <a:ea typeface="Comic Sans MS"/>
                <a:cs typeface="Comic Sans MS"/>
                <a:sym typeface="Comic Sans MS"/>
              </a:rPr>
              <a:t>&amp;</a:t>
            </a:r>
            <a:endParaRPr sz="6000">
              <a:solidFill>
                <a:srgbClr val="05093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628</Words>
  <Application>Microsoft Macintosh PowerPoint</Application>
  <PresentationFormat>Widescreen</PresentationFormat>
  <Paragraphs>133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Comic Sans MS</vt:lpstr>
      <vt:lpstr>DM Sans</vt:lpstr>
      <vt:lpstr>Consolas</vt:lpstr>
      <vt:lpstr>Calibri</vt:lpstr>
      <vt:lpstr>Play</vt:lpstr>
      <vt:lpstr>VT323</vt:lpstr>
      <vt:lpstr>DM Sans Medium</vt:lpstr>
      <vt:lpstr>1_Office Theme</vt:lpstr>
      <vt:lpstr>Office Theme</vt:lpstr>
      <vt:lpstr>PowerPoint Presentation</vt:lpstr>
      <vt:lpstr>Patient Triage &amp; Appointment System</vt:lpstr>
      <vt:lpstr>PowerPoint Presentation</vt:lpstr>
      <vt:lpstr>Architecture Overview Patient Triage &amp; Appointment System</vt:lpstr>
      <vt:lpstr>PowerPoint Presentation</vt:lpstr>
      <vt:lpstr>PowerPoint Presentation</vt:lpstr>
      <vt:lpstr>Entity UML Diagram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雨韵 杨</cp:lastModifiedBy>
  <cp:revision>1</cp:revision>
  <dcterms:modified xsi:type="dcterms:W3CDTF">2025-12-11T22:43:49Z</dcterms:modified>
</cp:coreProperties>
</file>